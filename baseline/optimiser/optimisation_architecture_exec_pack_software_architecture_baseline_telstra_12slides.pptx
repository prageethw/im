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7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6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8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80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— queue ownership: The Controller owns the runtime Optimisation record, the outbox write, and the final lifecycle/result projection. The Worker owns consumption from the optimisation event topic and the Gurobi execution path.</a:t>
            </a:r>
          </a:p>
          <a:p>
            <a:r>
              <a:rPr lang="en-US"/>
              <a:t>If asked: OC MS writes OptimisationRequestedEvent to its outbox and publishes to t7.optimisation.events. OW MS consumes that topic using its own consumer group. OC MS later consumes OptimisationCompletedEvent and projects the lifecycle/result back into the runtime resource.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2432-967A-D0A0-259E-7B0747F8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276D5-B38C-0154-B420-F99E8276C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B2F5E-0669-7465-0117-C6E7A58AF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F196E-89B2-A353-B8AD-5F932D7E7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58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— circuit breaker context: Circuit breakers stop us making a bad situation worse. If a dependency is down, the platform either uses a safe source-of-truth path or fails transparently.</a:t>
            </a:r>
          </a:p>
          <a:p>
            <a:r>
              <a:rPr lang="en-US"/>
              <a:t>Executive wording: If the platform cannot safely complete the operation, it returns a clear failure such as 503; it does not fake success, lifecycle state, validation, security, or result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400800"/>
          </a:xfrm>
          <a:prstGeom prst="rect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201168" cy="6400800"/>
          </a:xfrm>
          <a:prstGeom prst="rect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2336" y="0"/>
            <a:ext cx="201168" cy="6400800"/>
          </a:xfrm>
          <a:prstGeom prst="rect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Optimisation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18105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Architecture Executive Pack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87552" y="2423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baseline · governed, reusable optimisation for network and platform decisioning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063240"/>
            <a:ext cx="7315200" cy="18288"/>
          </a:xfrm>
          <a:prstGeom prst="rect">
            <a:avLst/>
          </a:prstGeom>
          <a:solidFill>
            <a:srgbClr val="E9ED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449"/>
                </a:solidFill>
              </a:rPr>
              <a:t>Technical executive 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67588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31A35"/>
                </a:solidFill>
              </a:rPr>
              <a:t>How the service architecture, data stores, cache strategy, identity path and event model fit together.</a:t>
            </a:r>
            <a:endParaRPr lang="en-US" sz="1800" dirty="0"/>
          </a:p>
        </p:txBody>
      </p:sp>
      <p:pic>
        <p:nvPicPr>
          <p:cNvPr id="11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516" y="1280160"/>
            <a:ext cx="1677848" cy="1920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281160" y="33101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TELSTRA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executive message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41732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31A35"/>
                </a:solidFill>
              </a:rPr>
              <a:t>A shared optimisation platform turns bespoke solver work into a governed, reusable enterprise capability.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77240" y="2450592"/>
            <a:ext cx="3154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78408" y="2697480"/>
            <a:ext cx="512064" cy="512064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78408" y="281635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0" y="2679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Faster decisions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51560" y="3383280"/>
            <a:ext cx="267004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t>Reusable request contracts and asynchronous execution reduce one-off integration effort.</a:t>
            </a:r>
          </a:p>
        </p:txBody>
      </p:sp>
      <p:sp>
        <p:nvSpPr>
          <p:cNvPr id="12" name="Shape 9"/>
          <p:cNvSpPr/>
          <p:nvPr/>
        </p:nvSpPr>
        <p:spPr>
          <a:xfrm>
            <a:off x="4480560" y="2450592"/>
            <a:ext cx="3154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81728" y="2697480"/>
            <a:ext cx="512064" cy="512064"/>
          </a:xfrm>
          <a:prstGeom prst="ellipse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81728" y="281635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49240" y="2679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Safer control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754880" y="3383280"/>
            <a:ext cx="267004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Definition, control, screen-building and worker execution have clear ownership.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83880" y="2450592"/>
            <a:ext cx="3154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385048" y="2697480"/>
            <a:ext cx="512064" cy="512064"/>
          </a:xfrm>
          <a:prstGeom prst="ellipse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85048" y="281635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052560" y="2679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Operational resilience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458200" y="3383280"/>
            <a:ext cx="267004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PostgreSQL, outbox and inbox, cache guardrails, ETags, DLQ and webhooks protect the platform.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523036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Outcome: governed optimisation without exposing solver internals or weakening runtime audit ownership.</a:t>
            </a:r>
          </a:p>
          <a:p>
            <a:r>
              <a:t>Boundary: not a solver-modelling tool and not a Gurobi internals exposure path.</a:t>
            </a:r>
          </a:p>
        </p:txBody>
      </p:sp>
      <p:sp>
        <p:nvSpPr>
          <p:cNvPr id="23" name="Shape 20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in one picture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Four microservices separate catalogue governance, runtime control, experience shaping and solver execution.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331720" y="3657600"/>
            <a:ext cx="640080" cy="0"/>
          </a:xfrm>
          <a:prstGeom prst="line">
            <a:avLst/>
          </a:prstGeom>
          <a:noFill/>
          <a:ln w="2540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92040" y="3657600"/>
            <a:ext cx="777240" cy="0"/>
          </a:xfrm>
          <a:prstGeom prst="line">
            <a:avLst/>
          </a:prstGeom>
          <a:noFill/>
          <a:ln w="2540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35240" y="3657600"/>
            <a:ext cx="777240" cy="0"/>
          </a:xfrm>
          <a:prstGeom prst="line">
            <a:avLst/>
          </a:prstGeom>
          <a:noFill/>
          <a:ln w="2540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601200" y="3017520"/>
            <a:ext cx="0" cy="0"/>
          </a:xfrm>
          <a:prstGeom prst="line">
            <a:avLst/>
          </a:prstGeom>
          <a:noFill/>
          <a:ln w="2540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921240" y="2880360"/>
            <a:ext cx="0" cy="137160"/>
          </a:xfrm>
          <a:prstGeom prst="line">
            <a:avLst/>
          </a:prstGeom>
          <a:noFill/>
          <a:ln w="2540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292608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F6F2FF"/>
          </a:solidFill>
          <a:ln w="17780">
            <a:solidFill>
              <a:srgbClr val="6C3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30358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C3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Builder MS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3355848"/>
            <a:ext cx="1600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Screen Builder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views, forms, actions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63240" y="29260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EEF4FF"/>
          </a:solidFill>
          <a:ln w="1778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54680" y="30358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5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 MS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154680" y="3355848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Controller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lifecycle + result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06440" y="306324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17780">
            <a:solidFill>
              <a:srgbClr val="13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97880" y="3172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Kafka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897880" y="3493008"/>
            <a:ext cx="1417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events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and inbox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412480" y="29260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FF3F0"/>
          </a:solidFill>
          <a:ln w="1778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503920" y="30358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6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 MS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503920" y="3355848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Worker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and Gurobi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063240" y="178308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FFAF4"/>
          </a:solidFill>
          <a:ln w="17780">
            <a:solidFill>
              <a:srgbClr val="19B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154680" y="18928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9B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 MS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154680" y="2212848"/>
            <a:ext cx="1691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Definition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 + versions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412480" y="173736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CFBFF"/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503920" y="1847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6C7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Gurobi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8503920" y="2167128"/>
            <a:ext cx="1691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solver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binding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04672" y="4709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BFF"/>
                </a:solidFill>
              </a:rPr>
              <a:t>Presentation path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91840" y="4709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4FF"/>
                </a:solidFill>
              </a:rPr>
              <a:t>Control plane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55679" y="4709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449"/>
                </a:solidFill>
              </a:rPr>
              <a:t>Execution plane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85800" y="50342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dirty="0"/>
              <a:t>Key point: Controller MS is the runtime source of truth; it validates requests against ACTIVE Definition contracts. Worker MS emits facts</a:t>
            </a:r>
            <a:r>
              <a:rPr lang="en-AU" dirty="0"/>
              <a:t>, state of that model execution, Definition MS gives us the source of truth reference of capability model</a:t>
            </a:r>
            <a:r>
              <a:rPr dirty="0"/>
              <a:t>.</a:t>
            </a:r>
          </a:p>
        </p:txBody>
      </p:sp>
      <p:sp>
        <p:nvSpPr>
          <p:cNvPr id="34" name="Shape 31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  <p:sp>
        <p:nvSpPr>
          <p:cNvPr id="41" name="TextBox 40"/>
          <p:cNvSpPr txBox="1"/>
          <p:nvPr/>
        </p:nvSpPr>
        <p:spPr>
          <a:xfrm>
            <a:off x="566928" y="550468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1">
                <a:solidFill>
                  <a:srgbClr val="0056A0"/>
                </a:solidFill>
              </a:rPr>
              <a:t>Platform runtime stack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715000"/>
            <a:ext cx="123444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 dirty="0">
                <a:solidFill>
                  <a:srgbClr val="0056A0"/>
                </a:solidFill>
              </a:rPr>
              <a:t>Gateways</a:t>
            </a:r>
          </a:p>
          <a:p>
            <a:pPr algn="ctr"/>
            <a:r>
              <a:rPr sz="620" dirty="0">
                <a:solidFill>
                  <a:srgbClr val="232D37"/>
                </a:solidFill>
              </a:rPr>
              <a:t>OGW and NGW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92808" y="5715000"/>
            <a:ext cx="214884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4F27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4F2783"/>
                </a:solidFill>
              </a:rPr>
              <a:t>Spring Boot services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Definition · Controller · Screen Builder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33088" y="5715000"/>
            <a:ext cx="1874519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00A699"/>
                </a:solidFill>
              </a:rPr>
              <a:t>Python worker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Optimisation Worker with Gurobi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9047" y="5715000"/>
            <a:ext cx="169164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0056A0"/>
                </a:solidFill>
              </a:rPr>
              <a:t>Data stores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PostgreSQL · Redis cache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82127" y="5715000"/>
            <a:ext cx="132588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4F27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4F2783"/>
                </a:solidFill>
              </a:rPr>
              <a:t>Event backbone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Kafka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99447" y="5715000"/>
            <a:ext cx="141732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00A699"/>
                </a:solidFill>
              </a:rPr>
              <a:t>Runtime platform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Kubernetes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r>
              <a:rPr lang="en-US" sz="85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request becomes an outcome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0" y="2670048"/>
            <a:ext cx="429768" cy="0"/>
          </a:xfrm>
          <a:prstGeom prst="line">
            <a:avLst/>
          </a:prstGeom>
          <a:noFill/>
          <a:ln w="2159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730752" y="2670048"/>
            <a:ext cx="429768" cy="0"/>
          </a:xfrm>
          <a:prstGeom prst="line">
            <a:avLst/>
          </a:prstGeom>
          <a:noFill/>
          <a:ln w="2159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32704" y="2670048"/>
            <a:ext cx="429768" cy="0"/>
          </a:xfrm>
          <a:prstGeom prst="line">
            <a:avLst/>
          </a:prstGeom>
          <a:noFill/>
          <a:ln w="2159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534656" y="2670048"/>
            <a:ext cx="429768" cy="0"/>
          </a:xfrm>
          <a:prstGeom prst="line">
            <a:avLst/>
          </a:prstGeom>
          <a:noFill/>
          <a:ln w="2159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436608" y="2670048"/>
            <a:ext cx="429768" cy="0"/>
          </a:xfrm>
          <a:prstGeom prst="line">
            <a:avLst/>
          </a:prstGeom>
          <a:noFill/>
          <a:ln w="2159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32688" y="2331720"/>
            <a:ext cx="548640" cy="548640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32688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2648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Create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4360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POST /optimisation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201 Created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2404872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834640" y="2331720"/>
            <a:ext cx="548640" cy="548640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83464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14600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Validate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496312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Controller resolves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ACTIVE Definition contract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4306824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36592" y="2331720"/>
            <a:ext cx="548640" cy="548640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36592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416552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Persist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398264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runtime + outbox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ACKNOWLEDGED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6208776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638544" y="2331720"/>
            <a:ext cx="548640" cy="548640"/>
          </a:xfrm>
          <a:prstGeom prst="ellipse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38544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18504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Execute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300216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Kafka -&gt; Worker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Gurobi</a:t>
            </a:r>
            <a:endParaRPr lang="en-US" sz="830" dirty="0"/>
          </a:p>
        </p:txBody>
      </p:sp>
      <p:sp>
        <p:nvSpPr>
          <p:cNvPr id="31" name="Shape 28"/>
          <p:cNvSpPr/>
          <p:nvPr/>
        </p:nvSpPr>
        <p:spPr>
          <a:xfrm>
            <a:off x="8110728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540496" y="2331720"/>
            <a:ext cx="548640" cy="548640"/>
          </a:xfrm>
          <a:prstGeom prst="ellipse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540496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22045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Project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202168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Controller inbox projects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lifecycle and result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10012680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0442448" y="2331720"/>
            <a:ext cx="548640" cy="548640"/>
          </a:xfrm>
          <a:prstGeom prst="ellipse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442448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122408" y="2972355"/>
            <a:ext cx="1188720" cy="365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Read(pull) and notify(push)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10104120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GET /optimisation/{id}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or webhook</a:t>
            </a:r>
            <a:endParaRPr lang="en-US" sz="830" dirty="0"/>
          </a:p>
        </p:txBody>
      </p:sp>
      <p:sp>
        <p:nvSpPr>
          <p:cNvPr id="41" name="Shape 38"/>
          <p:cNvSpPr/>
          <p:nvPr/>
        </p:nvSpPr>
        <p:spPr>
          <a:xfrm>
            <a:off x="868680" y="4754880"/>
            <a:ext cx="10424160" cy="694944"/>
          </a:xfrm>
          <a:prstGeom prst="roundRect">
            <a:avLst>
              <a:gd name="adj" fmla="val 15789"/>
            </a:avLst>
          </a:prstGeom>
          <a:solidFill>
            <a:srgbClr val="131A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143000" y="4956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Asynchronous by design: REST request latency stops at validation + persistence; solver time stays in the worker plane.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Governance controls are built 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45152" y="1874520"/>
            <a:ext cx="2880360" cy="2880360"/>
          </a:xfrm>
          <a:prstGeom prst="ellipse">
            <a:avLst/>
          </a:prstGeom>
          <a:solidFill>
            <a:srgbClr val="131A35"/>
          </a:solidFill>
          <a:ln w="12700">
            <a:solidFill>
              <a:srgbClr val="13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7492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Runtime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source of truth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919472" y="33832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C7E8"/>
                </a:solidFill>
              </a:rPr>
              <a:t>Optimisation Controller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132588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3970">
            <a:solidFill>
              <a:srgbClr val="19B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B66A"/>
                </a:solidFill>
              </a:rPr>
              <a:t>Definition contract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ACTIVE spec only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id + version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8549640" y="132588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397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54FF"/>
                </a:solidFill>
              </a:rPr>
              <a:t>ETag control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If-Match for unsafe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actions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868680" y="42519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397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00584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449"/>
                </a:solidFill>
              </a:rPr>
              <a:t>Circuit breakers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470916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AU" dirty="0"/>
              <a:t>fail fast, gracefully</a:t>
            </a:r>
          </a:p>
          <a:p>
            <a:r>
              <a:rPr lang="en-AU" dirty="0"/>
              <a:t>signal via x-</a:t>
            </a:r>
            <a:r>
              <a:rPr lang="en-AU" dirty="0" err="1"/>
              <a:t>cb</a:t>
            </a:r>
            <a:r>
              <a:rPr lang="en-AU" dirty="0"/>
              <a:t>-triggered</a:t>
            </a:r>
          </a:p>
        </p:txBody>
      </p:sp>
      <p:sp>
        <p:nvSpPr>
          <p:cNvPr id="18" name="Shape 15"/>
          <p:cNvSpPr/>
          <p:nvPr/>
        </p:nvSpPr>
        <p:spPr>
          <a:xfrm>
            <a:off x="8641080" y="42519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3970">
            <a:solidFill>
              <a:srgbClr val="6C3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7824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BFF"/>
                </a:solidFill>
              </a:rPr>
              <a:t>Security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7824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mTLS + service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identity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337560" y="1828800"/>
            <a:ext cx="1280160" cy="685800"/>
          </a:xfrm>
          <a:prstGeom prst="line">
            <a:avLst/>
          </a:prstGeom>
          <a:noFill/>
          <a:ln w="15240">
            <a:solidFill>
              <a:srgbClr val="19B6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549640" y="1828800"/>
            <a:ext cx="0" cy="685800"/>
          </a:xfrm>
          <a:prstGeom prst="line">
            <a:avLst/>
          </a:prstGeom>
          <a:noFill/>
          <a:ln w="1524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337560" y="4663440"/>
            <a:ext cx="1280160" cy="0"/>
          </a:xfrm>
          <a:prstGeom prst="line">
            <a:avLst/>
          </a:prstGeom>
          <a:noFill/>
          <a:ln w="1524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641080" y="4663440"/>
            <a:ext cx="0" cy="0"/>
          </a:xfrm>
          <a:prstGeom prst="line">
            <a:avLst/>
          </a:prstGeom>
          <a:noFill/>
          <a:ln w="15240">
            <a:solidFill>
              <a:srgbClr val="6C3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51560" y="5742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A35"/>
                </a:solidFill>
              </a:rPr>
              <a:t>Principle: every request is governed before execution, and every outcome is projected before it is exposed.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Persistence and cache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8872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dirty="0"/>
              <a:t>PostgreSQL is authoritative. </a:t>
            </a:r>
            <a:r>
              <a:rPr lang="en-AU" dirty="0"/>
              <a:t>Redis </a:t>
            </a:r>
            <a:r>
              <a:rPr dirty="0"/>
              <a:t>Cache is safe read acceleration only and never replaces lifecycle, audit or validation.</a:t>
            </a:r>
          </a:p>
        </p:txBody>
      </p:sp>
      <p:sp>
        <p:nvSpPr>
          <p:cNvPr id="7" name="Shape 4"/>
          <p:cNvSpPr/>
          <p:nvPr/>
        </p:nvSpPr>
        <p:spPr>
          <a:xfrm>
            <a:off x="777240" y="22402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EEF4FF"/>
          </a:solidFill>
          <a:ln w="1778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5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670048"/>
            <a:ext cx="25603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of truth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specs, runtime, outbox and inbox, subscriptions, audit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7720" y="22402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3F0"/>
          </a:solidFill>
          <a:ln w="1778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09160" y="23500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Redis cache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09160" y="2670048"/>
            <a:ext cx="23774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non-authoritative</a:t>
            </a:r>
          </a:p>
          <a:p>
            <a:r>
              <a:t>safe read acceleration only</a:t>
            </a:r>
          </a:p>
        </p:txBody>
      </p:sp>
      <p:sp>
        <p:nvSpPr>
          <p:cNvPr id="13" name="Shape 10"/>
          <p:cNvSpPr/>
          <p:nvPr/>
        </p:nvSpPr>
        <p:spPr>
          <a:xfrm>
            <a:off x="8275320" y="22402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ECFBFF"/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66760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C7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66760" y="2670048"/>
            <a:ext cx="25603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Definition, Controller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Screen Builder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520440" y="2926080"/>
            <a:ext cx="1097280" cy="0"/>
          </a:xfrm>
          <a:prstGeom prst="line">
            <a:avLst/>
          </a:prstGeom>
          <a:noFill/>
          <a:ln w="2159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178040" y="2926080"/>
            <a:ext cx="1097280" cy="0"/>
          </a:xfrm>
          <a:prstGeom prst="line">
            <a:avLst/>
          </a:prstGeom>
          <a:noFill/>
          <a:ln w="2159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77240" y="4297680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19B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41832" y="44165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9B66A"/>
                </a:solidFill>
              </a:rPr>
              <a:t>Definition contracts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468880" y="439826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ACTIVE and RETIRED specifications are immutable and cache-safe by id + version.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6400800" y="4297680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65392" y="44165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D54FF"/>
                </a:solidFill>
              </a:rPr>
              <a:t>Controller request-result cache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092440" y="439826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Internal optimisation result reuse must still preserve runtime identity, audit and persistence, cache will be only enabled when it is in safe to cache state (</a:t>
            </a:r>
            <a:r>
              <a:rPr lang="en-US" sz="880" dirty="0" err="1">
                <a:solidFill>
                  <a:srgbClr val="5F6B7A"/>
                </a:solidFill>
              </a:rPr>
              <a:t>ex:terminal</a:t>
            </a:r>
            <a:r>
              <a:rPr lang="en-US" sz="880" dirty="0">
                <a:solidFill>
                  <a:srgbClr val="5F6B7A"/>
                </a:solidFill>
              </a:rPr>
              <a:t>)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777240" y="5047488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6C3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41832" y="51663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C3BFF"/>
                </a:solidFill>
              </a:rPr>
              <a:t>Screen Builder view cache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468880" y="5148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Read-only capability, form and view data only where backend cache and lifecycle rules allow.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400800" y="5047488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565392" y="51663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96449"/>
                </a:solidFill>
              </a:rPr>
              <a:t>Hard guardrail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092440" y="51480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cache will not treat as source of truth,   it will not used for command acceptance, validation, lifecycle, result, cancellation, retrial, security or audit. 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54FF"/>
                </a:solidFill>
                <a:latin typeface="Aptos" pitchFamily="34" charset="0"/>
              </a:rPr>
              <a:t>IDENTITY FLOW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access governance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43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>
                <a:solidFill>
                  <a:srgbClr val="282828"/>
                </a:solidFill>
              </a:rPr>
              <a:t>The OEX experience layer is governed by ASG approval and Microsoft Entra ID; backend services still enforce their own rules.</a:t>
            </a:r>
          </a:p>
        </p:txBody>
      </p:sp>
      <p:sp>
        <p:nvSpPr>
          <p:cNvPr id="7" name="Shape 4"/>
          <p:cNvSpPr/>
          <p:nvPr/>
        </p:nvSpPr>
        <p:spPr>
          <a:xfrm>
            <a:off x="1554480" y="3063240"/>
            <a:ext cx="530352" cy="0"/>
          </a:xfrm>
          <a:prstGeom prst="line">
            <a:avLst/>
          </a:prstGeom>
          <a:noFill/>
          <a:ln w="15240">
            <a:solidFill>
              <a:srgbClr val="131A3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27832" y="3063240"/>
            <a:ext cx="530352" cy="0"/>
          </a:xfrm>
          <a:prstGeom prst="line">
            <a:avLst/>
          </a:prstGeom>
          <a:noFill/>
          <a:ln w="15240">
            <a:solidFill>
              <a:srgbClr val="19B6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01184" y="3063240"/>
            <a:ext cx="530352" cy="0"/>
          </a:xfrm>
          <a:prstGeom prst="line">
            <a:avLst/>
          </a:prstGeom>
          <a:noFill/>
          <a:ln w="1524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74536" y="3063240"/>
            <a:ext cx="530352" cy="0"/>
          </a:xfrm>
          <a:prstGeom prst="line">
            <a:avLst/>
          </a:prstGeom>
          <a:noFill/>
          <a:ln w="15240">
            <a:solidFill>
              <a:srgbClr val="6C3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47888" y="3063240"/>
            <a:ext cx="530352" cy="0"/>
          </a:xfrm>
          <a:prstGeom prst="line">
            <a:avLst/>
          </a:prstGeom>
          <a:noFill/>
          <a:ln w="1524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921240" y="3063240"/>
            <a:ext cx="530352" cy="0"/>
          </a:xfrm>
          <a:prstGeom prst="line">
            <a:avLst/>
          </a:prstGeom>
          <a:noFill/>
          <a:ln w="1524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13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31A35"/>
                </a:solidFill>
              </a:rPr>
              <a:t>User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576072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operator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176272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19B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249424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9B66A"/>
                </a:solidFill>
              </a:rPr>
              <a:t>ASG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2249424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approval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849624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22776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4FF"/>
                </a:solidFill>
              </a:rPr>
              <a:t>Microsoft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54FF"/>
                </a:solidFill>
              </a:rPr>
              <a:t>Entra ID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22776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SSO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522976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6C3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596128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6C3BFF"/>
                </a:solidFill>
              </a:rPr>
              <a:t>OGW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5596128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user-context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gateway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96328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69480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C7E8"/>
                </a:solidFill>
              </a:rPr>
              <a:t>Screen Builder MS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7269480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Screen Builder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User Context JWT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869680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6F6F6"/>
          </a:solidFill>
          <a:ln w="1270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942832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96449"/>
                </a:solidFill>
              </a:rPr>
              <a:t>NGW</a:t>
            </a:r>
            <a:endParaRPr lang="en-US" sz="1220" dirty="0"/>
          </a:p>
        </p:txBody>
      </p:sp>
      <p:sp>
        <p:nvSpPr>
          <p:cNvPr id="30" name="Text 27"/>
          <p:cNvSpPr/>
          <p:nvPr/>
        </p:nvSpPr>
        <p:spPr>
          <a:xfrm>
            <a:off x="8942832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service-to-service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543032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6F6F6"/>
          </a:solidFill>
          <a:ln w="12700">
            <a:solidFill>
              <a:srgbClr val="13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616184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31A35"/>
                </a:solidFill>
              </a:rPr>
              <a:t>Definition and Controller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0616184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Definition + Controller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service identity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492240" y="41879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449"/>
                </a:solidFill>
              </a:rPr>
              <a:t>User context stops before NGW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051560" y="4800600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131A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417320" y="4956048"/>
            <a:ext cx="9418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sz="1200" b="0">
                <a:solidFill>
                  <a:srgbClr val="FFFFFF"/>
                </a:solidFill>
              </a:rPr>
              <a:t>OEX layer uses user context for view and action shaping.</a:t>
            </a:r>
          </a:p>
          <a:p>
            <a:r>
              <a:rPr sz="1200" b="0">
                <a:solidFill>
                  <a:srgbClr val="FFFFFF"/>
                </a:solidFill>
              </a:rPr>
              <a:t>Backend Definition and Controller services use service identity and enforce lifecycle, schema, ETag and authorisation.</a:t>
            </a:r>
          </a:p>
          <a:p>
            <a:r>
              <a:rPr sz="1200" b="0">
                <a:solidFill>
                  <a:srgbClr val="FFFFFF"/>
                </a:solidFill>
              </a:rPr>
              <a:t>Backend decision wins over cached UI visibility or stale action state.</a:t>
            </a:r>
          </a:p>
        </p:txBody>
      </p:sp>
      <p:sp>
        <p:nvSpPr>
          <p:cNvPr id="37" name="Shape 34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  <p:sp>
        <p:nvSpPr>
          <p:cNvPr id="44" name="Rounded Rectangle 43"/>
          <p:cNvSpPr/>
          <p:nvPr/>
        </p:nvSpPr>
        <p:spPr>
          <a:xfrm>
            <a:off x="5321808" y="1993392"/>
            <a:ext cx="3246120" cy="347472"/>
          </a:xfrm>
          <a:prstGeom prst="roundRect">
            <a:avLst/>
          </a:prstGeom>
          <a:solidFill>
            <a:srgbClr val="E6F5FF"/>
          </a:solidFill>
          <a:ln w="15875">
            <a:solidFill>
              <a:srgbClr val="0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18288" rtlCol="0" anchor="ctr"/>
          <a:lstStyle/>
          <a:p>
            <a:pPr algn="ctr"/>
            <a:r>
              <a:rPr sz="980" b="1">
                <a:solidFill>
                  <a:srgbClr val="004678"/>
                </a:solidFill>
              </a:rPr>
              <a:t>OEX experience layer  ·  UI, OGW and Screen Builder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D953B-1CFA-2C16-770F-60627634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9EF973-F788-93DE-A6BF-5BD121721EFA}"/>
              </a:ext>
            </a:extLst>
          </p:cNvPr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1200" b="1" dirty="0">
                <a:solidFill>
                  <a:srgbClr val="0D54FF"/>
                </a:solidFill>
                <a:latin typeface="Aptos" pitchFamily="34" charset="0"/>
              </a:rPr>
              <a:t>EVENT</a:t>
            </a:r>
            <a:r>
              <a:rPr lang="en-AU" sz="850" b="1" dirty="0">
                <a:solidFill>
                  <a:srgbClr val="0D54FF"/>
                </a:solidFill>
                <a:latin typeface="Aptos" pitchFamily="34" charset="0"/>
              </a:rPr>
              <a:t> </a:t>
            </a:r>
            <a:r>
              <a:rPr lang="en-AU" sz="1200" b="1" dirty="0">
                <a:solidFill>
                  <a:srgbClr val="0D54FF"/>
                </a:solidFill>
                <a:latin typeface="Aptos" pitchFamily="34" charset="0"/>
              </a:rPr>
              <a:t>MODEL</a:t>
            </a:r>
            <a:r>
              <a:rPr lang="en-AU" sz="850" b="1" dirty="0">
                <a:solidFill>
                  <a:srgbClr val="0D54FF"/>
                </a:solidFill>
                <a:latin typeface="Aptos" pitchFamily="34" charset="0"/>
              </a:rPr>
              <a:t> </a:t>
            </a:r>
            <a:endParaRPr lang="en-US" sz="850" b="1" dirty="0">
              <a:solidFill>
                <a:srgbClr val="0D54FF"/>
              </a:solidFill>
              <a:latin typeface="Aptos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206EA9-1DF2-2012-9E9B-AE2CD3B57D38}"/>
              </a:ext>
            </a:extLst>
          </p:cNvPr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>
            <a:extLst>
              <a:ext uri="{FF2B5EF4-FFF2-40B4-BE49-F238E27FC236}">
                <a16:creationId xmlns:a16="http://schemas.microsoft.com/office/drawing/2014/main" id="{1EDC114B-B3A3-A265-13B7-28384762F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37" name="Shape 34">
            <a:extLst>
              <a:ext uri="{FF2B5EF4-FFF2-40B4-BE49-F238E27FC236}">
                <a16:creationId xmlns:a16="http://schemas.microsoft.com/office/drawing/2014/main" id="{F15467F8-4C99-FD47-C9B2-22234F8DAF0C}"/>
              </a:ext>
            </a:extLst>
          </p:cNvPr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A5912B89-7769-AF0E-8C82-EC087BD999DC}"/>
              </a:ext>
            </a:extLst>
          </p:cNvPr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6293F295-511E-288E-36ED-BE9D832DFEC3}"/>
              </a:ext>
            </a:extLst>
          </p:cNvPr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75F2EBAA-EAB9-F70F-A4BD-A41A5C28DE78}"/>
              </a:ext>
            </a:extLst>
          </p:cNvPr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011A01DE-CD22-2D2D-E95B-6447EDC9D91A}"/>
              </a:ext>
            </a:extLst>
          </p:cNvPr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06B24E92-5D90-8459-D2FE-9FD7F31A6276}"/>
              </a:ext>
            </a:extLst>
          </p:cNvPr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36D6CBB9-F9C2-7DBC-859C-983CE2B71778}"/>
              </a:ext>
            </a:extLst>
          </p:cNvPr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7907AA-967D-1920-C481-D8D8058809F4}"/>
              </a:ext>
            </a:extLst>
          </p:cNvPr>
          <p:cNvSpPr txBox="1"/>
          <p:nvPr/>
        </p:nvSpPr>
        <p:spPr>
          <a:xfrm>
            <a:off x="534093" y="814644"/>
            <a:ext cx="950976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14233E"/>
                </a:solidFill>
                <a:latin typeface="Arial"/>
              </a:rPr>
              <a:t>Two internal events, one external notification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45458B-A1E1-DC94-0A6C-53500ED27DFE}"/>
              </a:ext>
            </a:extLst>
          </p:cNvPr>
          <p:cNvSpPr txBox="1"/>
          <p:nvPr/>
        </p:nvSpPr>
        <p:spPr>
          <a:xfrm>
            <a:off x="534093" y="1253556"/>
            <a:ext cx="9784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00" b="0">
                <a:solidFill>
                  <a:srgbClr val="677384"/>
                </a:solidFill>
                <a:latin typeface="Arial"/>
              </a:rPr>
              <a:t>Worker events execute work. Controller projection remains the source of truth. Webhooks only notify subscribers.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8B9D1372-EBAB-5AEC-9549-5C1F1F7DE06B}"/>
              </a:ext>
            </a:extLst>
          </p:cNvPr>
          <p:cNvSpPr/>
          <p:nvPr/>
        </p:nvSpPr>
        <p:spPr>
          <a:xfrm>
            <a:off x="671253" y="1866204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42688123-AE29-6BC5-40E3-AC099E474ED1}"/>
              </a:ext>
            </a:extLst>
          </p:cNvPr>
          <p:cNvSpPr/>
          <p:nvPr/>
        </p:nvSpPr>
        <p:spPr>
          <a:xfrm>
            <a:off x="671253" y="1866204"/>
            <a:ext cx="3154680" cy="411480"/>
          </a:xfrm>
          <a:prstGeom prst="roundRect">
            <a:avLst/>
          </a:prstGeom>
          <a:solidFill>
            <a:srgbClr val="005BBB"/>
          </a:solidFill>
          <a:ln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A50A9AB-11D8-FC1A-F507-8397D9E474B6}"/>
              </a:ext>
            </a:extLst>
          </p:cNvPr>
          <p:cNvSpPr txBox="1"/>
          <p:nvPr/>
        </p:nvSpPr>
        <p:spPr>
          <a:xfrm>
            <a:off x="762692" y="1957644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OptimisationRequestedEvent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E53894-704B-7E49-5BEF-14676D7A5A36}"/>
              </a:ext>
            </a:extLst>
          </p:cNvPr>
          <p:cNvSpPr txBox="1"/>
          <p:nvPr/>
        </p:nvSpPr>
        <p:spPr>
          <a:xfrm>
            <a:off x="808413" y="2433132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005BBB"/>
                </a:solidFill>
                <a:latin typeface="Arial"/>
              </a:rPr>
              <a:t>Controller → Kafka → Worker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89E2CD3-2E92-611E-1018-3DC951A7190A}"/>
              </a:ext>
            </a:extLst>
          </p:cNvPr>
          <p:cNvSpPr txBox="1"/>
          <p:nvPr/>
        </p:nvSpPr>
        <p:spPr>
          <a:xfrm>
            <a:off x="927285" y="2808036"/>
            <a:ext cx="2642616" cy="8869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Instruction: EXECUTE or CANCEL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Outbox-backed publication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Worker consumes from topic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86584567-9B24-B3AE-CEC3-003BF3DD0BB9}"/>
              </a:ext>
            </a:extLst>
          </p:cNvPr>
          <p:cNvSpPr/>
          <p:nvPr/>
        </p:nvSpPr>
        <p:spPr>
          <a:xfrm>
            <a:off x="4100253" y="1866204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96934845-F0CA-C3B8-85EE-B1E68E2508E2}"/>
              </a:ext>
            </a:extLst>
          </p:cNvPr>
          <p:cNvSpPr/>
          <p:nvPr/>
        </p:nvSpPr>
        <p:spPr>
          <a:xfrm>
            <a:off x="4100253" y="1866204"/>
            <a:ext cx="3154680" cy="411480"/>
          </a:xfrm>
          <a:prstGeom prst="roundRect">
            <a:avLst/>
          </a:prstGeom>
          <a:solidFill>
            <a:srgbClr val="008C79"/>
          </a:solidFill>
          <a:ln>
            <a:solidFill>
              <a:srgbClr val="008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76523F0-FA51-B71F-8668-5E70C2FDE212}"/>
              </a:ext>
            </a:extLst>
          </p:cNvPr>
          <p:cNvSpPr txBox="1"/>
          <p:nvPr/>
        </p:nvSpPr>
        <p:spPr>
          <a:xfrm>
            <a:off x="4191693" y="1957644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OptimisationCompletedEvent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574B3B2-C743-03A6-00F4-2A26E2794D4B}"/>
              </a:ext>
            </a:extLst>
          </p:cNvPr>
          <p:cNvSpPr txBox="1"/>
          <p:nvPr/>
        </p:nvSpPr>
        <p:spPr>
          <a:xfrm>
            <a:off x="4237413" y="2433132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008C79"/>
                </a:solidFill>
                <a:latin typeface="Arial"/>
              </a:rPr>
              <a:t>Worker → Kafka → Controller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D1E57C1-F28F-1B98-3CD5-54F0311136A1}"/>
              </a:ext>
            </a:extLst>
          </p:cNvPr>
          <p:cNvSpPr txBox="1"/>
          <p:nvPr/>
        </p:nvSpPr>
        <p:spPr>
          <a:xfrm>
            <a:off x="4356285" y="2808036"/>
            <a:ext cx="2642616" cy="8869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Execution or cancellation outcome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Controller inbox projects state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Idempotent duplicate handling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28A53C46-6A46-A4C9-FBC3-AB98D65083E3}"/>
              </a:ext>
            </a:extLst>
          </p:cNvPr>
          <p:cNvSpPr/>
          <p:nvPr/>
        </p:nvSpPr>
        <p:spPr>
          <a:xfrm>
            <a:off x="7529252" y="1866204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59C68115-7690-03AD-08AD-EFD928841D32}"/>
              </a:ext>
            </a:extLst>
          </p:cNvPr>
          <p:cNvSpPr/>
          <p:nvPr/>
        </p:nvSpPr>
        <p:spPr>
          <a:xfrm>
            <a:off x="7529252" y="1866204"/>
            <a:ext cx="3154680" cy="411480"/>
          </a:xfrm>
          <a:prstGeom prst="roundRect">
            <a:avLst/>
          </a:prstGeom>
          <a:solidFill>
            <a:srgbClr val="7437B4"/>
          </a:solidFill>
          <a:ln>
            <a:solidFill>
              <a:srgbClr val="74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E50E65-71AC-9EA6-42AB-B42CCDA216B3}"/>
              </a:ext>
            </a:extLst>
          </p:cNvPr>
          <p:cNvSpPr txBox="1"/>
          <p:nvPr/>
        </p:nvSpPr>
        <p:spPr>
          <a:xfrm>
            <a:off x="7620692" y="1957644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OptimisationStatusChangeEvent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2EE334-000C-0FD4-1490-DC34CFED7D49}"/>
              </a:ext>
            </a:extLst>
          </p:cNvPr>
          <p:cNvSpPr txBox="1"/>
          <p:nvPr/>
        </p:nvSpPr>
        <p:spPr>
          <a:xfrm>
            <a:off x="7666413" y="2433132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7437B4"/>
                </a:solidFill>
                <a:latin typeface="Arial"/>
              </a:rPr>
              <a:t>Controller → hub → Subscriber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3555DB-1323-5DF0-40DE-017421702672}"/>
              </a:ext>
            </a:extLst>
          </p:cNvPr>
          <p:cNvSpPr txBox="1"/>
          <p:nvPr/>
        </p:nvSpPr>
        <p:spPr>
          <a:xfrm>
            <a:off x="7785284" y="2808036"/>
            <a:ext cx="2642616" cy="8869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After persisted projection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Notification only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GET remains authoritative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7721454-B658-D15A-8504-73ABBB67BC3B}"/>
              </a:ext>
            </a:extLst>
          </p:cNvPr>
          <p:cNvSpPr/>
          <p:nvPr/>
        </p:nvSpPr>
        <p:spPr>
          <a:xfrm>
            <a:off x="689541" y="3996756"/>
            <a:ext cx="10012680" cy="475488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BA09EE-1E70-6B6B-439E-AD26430DED60}"/>
              </a:ext>
            </a:extLst>
          </p:cNvPr>
          <p:cNvSpPr txBox="1"/>
          <p:nvPr/>
        </p:nvSpPr>
        <p:spPr>
          <a:xfrm>
            <a:off x="899853" y="4124772"/>
            <a:ext cx="960120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20" b="1">
                <a:solidFill>
                  <a:srgbClr val="14233E"/>
                </a:solidFill>
                <a:latin typeface="Arial"/>
              </a:rPr>
              <a:t>Source of truth: Controller persists lifecycle and result. GET /optimisation/{id} remains authoritative.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B06A06C-2C9D-2A32-ABFA-9F777DBA2D1D}"/>
              </a:ext>
            </a:extLst>
          </p:cNvPr>
          <p:cNvSpPr txBox="1"/>
          <p:nvPr/>
        </p:nvSpPr>
        <p:spPr>
          <a:xfrm>
            <a:off x="671253" y="4746564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05BBB"/>
                </a:solidFill>
                <a:latin typeface="Arial"/>
              </a:rPr>
              <a:t>Lifecycle in one line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969D93E8-48D5-05FE-FCEC-E7D9BA5D9E65}"/>
              </a:ext>
            </a:extLst>
          </p:cNvPr>
          <p:cNvSpPr/>
          <p:nvPr/>
        </p:nvSpPr>
        <p:spPr>
          <a:xfrm>
            <a:off x="689541" y="5075748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5877998-CEA7-355E-A642-C5877AC6AE10}"/>
              </a:ext>
            </a:extLst>
          </p:cNvPr>
          <p:cNvSpPr txBox="1"/>
          <p:nvPr/>
        </p:nvSpPr>
        <p:spPr>
          <a:xfrm>
            <a:off x="899853" y="5135183"/>
            <a:ext cx="438912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50" b="1" dirty="0">
                <a:solidFill>
                  <a:srgbClr val="005BBB"/>
                </a:solidFill>
                <a:latin typeface="Arial"/>
              </a:rPr>
              <a:t>Definition lifecycle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8A0555D-DDC1-FC38-7A81-180832845F5C}"/>
              </a:ext>
            </a:extLst>
          </p:cNvPr>
          <p:cNvSpPr txBox="1"/>
          <p:nvPr/>
        </p:nvSpPr>
        <p:spPr>
          <a:xfrm>
            <a:off x="991293" y="5434441"/>
            <a:ext cx="420624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19" b="0" dirty="0">
                <a:solidFill>
                  <a:srgbClr val="242E42"/>
                </a:solidFill>
                <a:latin typeface="Arial"/>
              </a:rPr>
              <a:t>DRAFT → ACTIVE → RETIRED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157F459-BEE4-FF77-5B44-48788F852D71}"/>
              </a:ext>
            </a:extLst>
          </p:cNvPr>
          <p:cNvSpPr txBox="1"/>
          <p:nvPr/>
        </p:nvSpPr>
        <p:spPr>
          <a:xfrm>
            <a:off x="991293" y="5788980"/>
            <a:ext cx="420624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242E42"/>
                </a:solidFill>
                <a:latin typeface="Arial"/>
              </a:rPr>
              <a:t>ACTIVE and RETIRED versions are immutable.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0AB6C2FB-900E-7FDD-540A-31B0D5214149}"/>
              </a:ext>
            </a:extLst>
          </p:cNvPr>
          <p:cNvSpPr/>
          <p:nvPr/>
        </p:nvSpPr>
        <p:spPr>
          <a:xfrm>
            <a:off x="5700453" y="5075748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009F578-2069-CA78-C895-259892ABEC72}"/>
              </a:ext>
            </a:extLst>
          </p:cNvPr>
          <p:cNvSpPr txBox="1"/>
          <p:nvPr/>
        </p:nvSpPr>
        <p:spPr>
          <a:xfrm>
            <a:off x="5929053" y="5114401"/>
            <a:ext cx="452628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50" b="1" dirty="0">
                <a:solidFill>
                  <a:srgbClr val="008C79"/>
                </a:solidFill>
                <a:latin typeface="Arial"/>
              </a:rPr>
              <a:t>Runtime lifecycle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E2D7B2-BBFD-F016-96AF-A1BEA355CBBA}"/>
              </a:ext>
            </a:extLst>
          </p:cNvPr>
          <p:cNvSpPr txBox="1"/>
          <p:nvPr/>
        </p:nvSpPr>
        <p:spPr>
          <a:xfrm>
            <a:off x="5837613" y="5395371"/>
            <a:ext cx="473659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00" b="0" dirty="0">
                <a:solidFill>
                  <a:srgbClr val="242E42"/>
                </a:solidFill>
                <a:latin typeface="Arial"/>
              </a:rPr>
              <a:t>ACKNOWLEDGED → QUEUED → PROCESSING → terminal outcome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AD4F113-2EF6-0C65-4359-14BA2D479406}"/>
              </a:ext>
            </a:extLst>
          </p:cNvPr>
          <p:cNvSpPr txBox="1"/>
          <p:nvPr/>
        </p:nvSpPr>
        <p:spPr>
          <a:xfrm>
            <a:off x="5837613" y="5583654"/>
            <a:ext cx="4736592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00" b="0" dirty="0">
                <a:solidFill>
                  <a:srgbClr val="242E42"/>
                </a:solidFill>
                <a:latin typeface="Arial"/>
              </a:rPr>
              <a:t>Cancellation path: CANCELLING → CANCELLED or CANCELLATIONFAILED</a:t>
            </a:r>
            <a:br>
              <a:rPr lang="en-AU" sz="900" b="0" dirty="0">
                <a:solidFill>
                  <a:srgbClr val="242E42"/>
                </a:solidFill>
                <a:latin typeface="Arial"/>
              </a:rPr>
            </a:br>
            <a:r>
              <a:rPr lang="en-AU" sz="900" b="0" dirty="0">
                <a:solidFill>
                  <a:srgbClr val="242E42"/>
                </a:solidFill>
                <a:latin typeface="Arial"/>
              </a:rPr>
              <a:t>terminals:</a:t>
            </a:r>
          </a:p>
          <a:p>
            <a:pPr algn="ctr"/>
            <a:r>
              <a:rPr lang="en-AU" sz="900" dirty="0"/>
              <a:t>COMPLETED, INFEASIBLE, FAILED, CANCELLED or CANCELLATIONFAILED</a:t>
            </a:r>
          </a:p>
          <a:p>
            <a:pPr algn="ctr"/>
            <a:endParaRPr sz="900" b="0" dirty="0">
              <a:solidFill>
                <a:srgbClr val="242E4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849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to fail safely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554480"/>
            <a:ext cx="10424160" cy="804672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554480"/>
            <a:ext cx="146304" cy="804672"/>
          </a:xfrm>
          <a:prstGeom prst="rect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Persist first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703320" y="1737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Runtime state and outbox are durable before execution continues.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2633472"/>
            <a:ext cx="10424160" cy="804672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2633472"/>
            <a:ext cx="146304" cy="804672"/>
          </a:xfrm>
          <a:prstGeom prst="rect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34440" y="2816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Project idempotently</a:t>
            </a:r>
          </a:p>
        </p:txBody>
      </p:sp>
      <p:sp>
        <p:nvSpPr>
          <p:cNvPr id="13" name="Text 10"/>
          <p:cNvSpPr/>
          <p:nvPr/>
        </p:nvSpPr>
        <p:spPr>
          <a:xfrm>
            <a:off x="3703320" y="28163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Controller inbox handles duplicate, stale and late worker outcomes.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8680" y="3712464"/>
            <a:ext cx="10424160" cy="804672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8680" y="3712464"/>
            <a:ext cx="146304" cy="804672"/>
          </a:xfrm>
          <a:prstGeom prst="rect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34440" y="3895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Notify after projection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703320" y="38953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Webhooks are sent only after Controller has persisted lifecycle or result.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8680" y="4791456"/>
            <a:ext cx="10424160" cy="804672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8680" y="4791456"/>
            <a:ext cx="146304" cy="804672"/>
          </a:xfrm>
          <a:prstGeom prst="rect">
            <a:avLst/>
          </a:prstGeom>
          <a:solidFill>
            <a:srgbClr val="6C3B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34440" y="4974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Fallback safely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703320" y="49743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Circuit breakers and Caches enable  us to fail fast gracefully. 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589788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54FF"/>
                </a:solidFill>
              </a:rPr>
              <a:t>Executive risk posture: protect the customer-facing API and audit trail even when solver, Kafka, cache or callback dependencies degrade.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9984"/>
            <a:ext cx="2032000" cy="128016"/>
          </a:xfrm>
          <a:prstGeom prst="rect">
            <a:avLst/>
          </a:prstGeom>
          <a:solidFill>
            <a:srgbClr val="00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0" y="6729984"/>
            <a:ext cx="2032000" cy="128016"/>
          </a:xfrm>
          <a:prstGeom prst="rect">
            <a:avLst/>
          </a:prstGeom>
          <a:solidFill>
            <a:srgbClr val="FF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0" y="6729984"/>
            <a:ext cx="2032000" cy="128016"/>
          </a:xfrm>
          <a:prstGeom prst="rect">
            <a:avLst/>
          </a:prstGeom>
          <a:solidFill>
            <a:srgbClr val="1AC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0" y="6729984"/>
            <a:ext cx="2032000" cy="128016"/>
          </a:xfrm>
          <a:prstGeom prst="rect">
            <a:avLst/>
          </a:prstGeom>
          <a:solidFill>
            <a:srgbClr val="7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0" y="6729984"/>
            <a:ext cx="2032000" cy="128016"/>
          </a:xfrm>
          <a:prstGeom prst="rect">
            <a:avLst/>
          </a:prstGeom>
          <a:solidFill>
            <a:srgbClr val="1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0" y="6729984"/>
            <a:ext cx="2032000" cy="128016"/>
          </a:xfrm>
          <a:prstGeom prst="rect">
            <a:avLst/>
          </a:prstGeom>
          <a:solidFill>
            <a:srgbClr val="E62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E80"/>
                </a:solidFill>
              </a:defRPr>
            </a:pPr>
            <a:r>
              <a:t>Optimisation platform · software architecture baseline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83464"/>
            <a:ext cx="713232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20040"/>
            <a:ext cx="2743200" cy="425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800" b="0"/>
            </a:pPr>
            <a:r>
              <a:rPr sz="1200" b="1" dirty="0">
                <a:solidFill>
                  <a:srgbClr val="0D54FF"/>
                </a:solidFill>
                <a:latin typeface="Aptos" pitchFamily="34" charset="0"/>
              </a:rPr>
              <a:t>DELIVERY AND</a:t>
            </a:r>
          </a:p>
          <a:p>
            <a:pPr>
              <a:lnSpc>
                <a:spcPct val="90000"/>
              </a:lnSpc>
              <a:defRPr sz="1800" b="0"/>
            </a:pPr>
            <a:r>
              <a:rPr sz="1200" b="1" dirty="0">
                <a:solidFill>
                  <a:srgbClr val="0D54FF"/>
                </a:solidFill>
                <a:latin typeface="Aptos" pitchFamily="34" charset="0"/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35430"/>
            <a:ext cx="9875520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800" b="0"/>
            </a:pPr>
            <a:r>
              <a:rPr sz="2400" b="1" dirty="0"/>
              <a:t>Built from code, secured by Vault, operated elastically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6187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300" b="0"/>
            </a:pPr>
            <a:r>
              <a:rPr sz="1300" b="0" dirty="0"/>
              <a:t>Infrastructure is defined as code and promoted through governed delivery. Kubernetes telemetry and dashboards support elastic scaling in public and hybrid cloud environments.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83080"/>
            <a:ext cx="10927080" cy="9144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1984248"/>
            <a:ext cx="2331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048256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b="1"/>
              <a:t>IaC and GitOps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5856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sz="900" b="0"/>
              <a:t>cattle not pets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1305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6F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984248"/>
            <a:ext cx="2331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2048256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200" b="1"/>
            </a:pPr>
            <a:r>
              <a:rPr sz="1200" b="1"/>
              <a:t>CI and 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25856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 b="0"/>
            </a:pPr>
            <a:r>
              <a:rPr sz="900" b="0"/>
              <a:t>build, test,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21305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6FF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984248"/>
            <a:ext cx="2331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2048256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200" b="1"/>
            </a:pPr>
            <a:r>
              <a:rPr sz="1200" b="1"/>
              <a:t>Vault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5856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 b="0"/>
            </a:pPr>
            <a:r>
              <a:rPr sz="900" b="0"/>
              <a:t>keys and secrets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1305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6FF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984248"/>
            <a:ext cx="2331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0" y="2048256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200" b="1"/>
            </a:pPr>
            <a:r>
              <a:rPr sz="1200" b="1"/>
              <a:t>Kubernetes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25856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 b="0"/>
            </a:pPr>
            <a:r>
              <a:rPr sz="900" b="0"/>
              <a:t>elastic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3063240"/>
            <a:ext cx="91440" cy="1234440"/>
          </a:xfrm>
          <a:prstGeom prst="rect">
            <a:avLst/>
          </a:prstGeom>
          <a:solidFill>
            <a:srgbClr val="00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32461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300" b="0"/>
            </a:pPr>
            <a:r>
              <a:rPr sz="1300" b="0"/>
              <a:t>GitOps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593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50" b="0"/>
            </a:pPr>
            <a:r>
              <a:rPr sz="950" b="0" dirty="0" err="1"/>
              <a:t>GitOps</a:t>
            </a:r>
            <a:r>
              <a:rPr sz="950" b="0" dirty="0"/>
              <a:t> keeps application and infrastructure desired state reviewable, versioned and repeatable before promotion.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43400" y="3063240"/>
            <a:ext cx="91440" cy="1234440"/>
          </a:xfrm>
          <a:prstGeom prst="rect">
            <a:avLst/>
          </a:prstGeom>
          <a:solidFill>
            <a:srgbClr val="7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9432" y="32461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300" b="0"/>
            </a:pPr>
            <a:r>
              <a:rPr sz="1300" b="0"/>
              <a:t>Secure keys and secrets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3593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50" b="0"/>
            </a:pPr>
            <a:r>
              <a:rPr sz="950" b="0"/>
              <a:t>Vault protects database credentials, tokens, certificates, signing keys, mTLS trust material and Gurobi licence material.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3063240"/>
            <a:ext cx="91440" cy="1234440"/>
          </a:xfrm>
          <a:prstGeom prst="rect">
            <a:avLst/>
          </a:prstGeom>
          <a:solidFill>
            <a:srgbClr val="FF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02752" y="32461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300" b="0"/>
            </a:pPr>
            <a:r>
              <a:rPr sz="1300" b="0"/>
              <a:t>Elastic operations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593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50" b="0"/>
            </a:pPr>
            <a:r>
              <a:rPr sz="950" b="0"/>
              <a:t>Kubernetes telemetry and instrumentation support scale out and scale in based on demand, backed by monitoring, logging and dashboards.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892040"/>
            <a:ext cx="10744200" cy="786384"/>
          </a:xfrm>
          <a:prstGeom prst="roundRect">
            <a:avLst/>
          </a:prstGeom>
          <a:solidFill>
            <a:srgbClr val="EFF5FF"/>
          </a:solidFill>
          <a:ln>
            <a:solidFill>
              <a:srgbClr val="BE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" y="506577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200" b="0"/>
            </a:pPr>
            <a:r>
              <a:rPr sz="1200" b="0"/>
              <a:t>Delivery</a:t>
            </a:r>
          </a:p>
          <a:p>
            <a:pPr>
              <a:lnSpc>
                <a:spcPct val="90000"/>
              </a:lnSpc>
              <a:defRPr sz="1200" b="0"/>
            </a:pPr>
            <a:r>
              <a:rPr sz="1200" b="0"/>
              <a:t>guardrail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84831" y="5010912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50" b="0"/>
            </a:pPr>
            <a:r>
              <a:rPr sz="1050" b="0"/>
              <a:t>Infrastructure is re-created from code rather than hand-managed. GitHub Copilot, Claude Code and Codex can assist delivery, but changes still flow through pull requests, quality gates, security scanning, GitOps promotion and controlled release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PATH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2984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Endorse the software architecture baseline, then move into API contract and implementation readiness.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" y="2514600"/>
            <a:ext cx="2331720" cy="1965960"/>
          </a:xfrm>
          <a:prstGeom prst="roundRect">
            <a:avLst>
              <a:gd name="adj" fmla="val 7442"/>
            </a:avLst>
          </a:prstGeom>
          <a:solidFill>
            <a:srgbClr val="1C2748"/>
          </a:solidFill>
          <a:ln w="1397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563624" y="2624328"/>
            <a:ext cx="749808" cy="749808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563624" y="28072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Lock architecture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1832" y="39136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2E8"/>
                </a:solidFill>
              </a:rPr>
              <a:t>Ownership, lifecycle, event model, cache and identity guardrails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66160" y="2514600"/>
            <a:ext cx="2331720" cy="1965960"/>
          </a:xfrm>
          <a:prstGeom prst="roundRect">
            <a:avLst>
              <a:gd name="adj" fmla="val 7442"/>
            </a:avLst>
          </a:prstGeom>
          <a:solidFill>
            <a:srgbClr val="1C2748"/>
          </a:solidFill>
          <a:ln w="1397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52544" y="2624328"/>
            <a:ext cx="749808" cy="749808"/>
          </a:xfrm>
          <a:prstGeom prst="ellipse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52544" y="28072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03320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Generate OAS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30752" y="39136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2E8"/>
                </a:solidFill>
              </a:rPr>
              <a:t>Definition, Controller and Screen Builder API contracts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55080" y="2514600"/>
            <a:ext cx="2331720" cy="1965960"/>
          </a:xfrm>
          <a:prstGeom prst="roundRect">
            <a:avLst>
              <a:gd name="adj" fmla="val 7442"/>
            </a:avLst>
          </a:prstGeom>
          <a:solidFill>
            <a:srgbClr val="1C2748"/>
          </a:solidFill>
          <a:ln w="1397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141464" y="2624328"/>
            <a:ext cx="749808" cy="749808"/>
          </a:xfrm>
          <a:prstGeom prst="ellipse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141464" y="28072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Pilot build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19672" y="39136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2E8"/>
                </a:solidFill>
              </a:rPr>
              <a:t>Thin happy path with one optimisation capability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144000" y="2514600"/>
            <a:ext cx="2331720" cy="1965960"/>
          </a:xfrm>
          <a:prstGeom prst="roundRect">
            <a:avLst>
              <a:gd name="adj" fmla="val 7442"/>
            </a:avLst>
          </a:prstGeom>
          <a:solidFill>
            <a:srgbClr val="1C2748"/>
          </a:solidFill>
          <a:ln w="13970">
            <a:solidFill>
              <a:srgbClr val="6C3BFF"/>
            </a:solidFill>
            <a:prstDash val="solid"/>
          </a:ln>
        </p:spPr>
        <p:txBody>
          <a:bodyPr/>
          <a:lstStyle/>
          <a:p>
            <a:endParaRPr dirty="0">
              <a:solidFill>
                <a:schemeClr val="bg1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930384" y="2624328"/>
            <a:ext cx="749808" cy="749808"/>
          </a:xfrm>
          <a:prstGeom prst="ellipse">
            <a:avLst/>
          </a:prstGeom>
          <a:solidFill>
            <a:srgbClr val="6C3B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930384" y="28072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81160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Operationalise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08592" y="39136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2E8"/>
                </a:solidFill>
              </a:rPr>
              <a:t>Runbooks, dashboards, DLQ, capacity and security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371600" y="5212080"/>
            <a:ext cx="94640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600200" y="5358384"/>
            <a:ext cx="9006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Executive ask: endorse the platform architecture so OAS </a:t>
            </a:r>
            <a:r>
              <a:rPr dirty="0" err="1"/>
              <a:t>finalisation</a:t>
            </a:r>
            <a:r>
              <a:rPr dirty="0"/>
              <a:t>, implementation backlog sizing and pilot readiness can proceed.</a:t>
            </a:r>
          </a:p>
        </p:txBody>
      </p:sp>
      <p:sp>
        <p:nvSpPr>
          <p:cNvPr id="29" name="Shape 26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4944"/>
          </a:xfrm>
          <a:prstGeom prst="rect">
            <a:avLst/>
          </a:prstGeom>
          <a:solidFill>
            <a:srgbClr val="00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2000" cy="54864"/>
          </a:xfrm>
          <a:prstGeom prst="rect">
            <a:avLst/>
          </a:prstGeom>
          <a:solidFill>
            <a:srgbClr val="00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 — E2E logical view (full diagram)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164592"/>
            <a:ext cx="1234440" cy="310896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BACKUP</a:t>
            </a:r>
          </a:p>
        </p:txBody>
      </p:sp>
      <p:sp>
        <p:nvSpPr>
          <p:cNvPr id="6" name="Oval 5"/>
          <p:cNvSpPr/>
          <p:nvPr/>
        </p:nvSpPr>
        <p:spPr>
          <a:xfrm>
            <a:off x="10835640" y="7315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146304"/>
            <a:ext cx="274320" cy="3108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749808"/>
            <a:ext cx="736092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01000" y="749808"/>
            <a:ext cx="3794760" cy="5715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C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950976"/>
            <a:ext cx="3337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A203F"/>
                </a:solidFill>
              </a:rPr>
              <a:t>How to read this view</a:t>
            </a:r>
          </a:p>
        </p:txBody>
      </p:sp>
      <p:sp>
        <p:nvSpPr>
          <p:cNvPr id="12" name="Oval 11"/>
          <p:cNvSpPr/>
          <p:nvPr/>
        </p:nvSpPr>
        <p:spPr>
          <a:xfrm>
            <a:off x="8247888" y="1655064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9912" y="1618488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1. Experience path
</a:t>
            </a:r>
            <a:r>
              <a:rPr sz="930">
                <a:solidFill>
                  <a:srgbClr val="586370"/>
                </a:solidFill>
              </a:rPr>
              <a:t>User → OEX → OGW → Optimisation Screen Builder MS. User context shapes views and actions.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8247888" y="2587752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2551176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2. Backend control path
</a:t>
            </a:r>
            <a:r>
              <a:rPr sz="930">
                <a:solidFill>
                  <a:srgbClr val="586370"/>
                </a:solidFill>
              </a:rPr>
              <a:t>NGW exposes governed Optimisation Definition and Optimisation Controller APIs.</a:t>
            </a:r>
          </a:p>
        </p:txBody>
      </p:sp>
      <p:sp>
        <p:nvSpPr>
          <p:cNvPr id="16" name="Oval 15"/>
          <p:cNvSpPr/>
          <p:nvPr/>
        </p:nvSpPr>
        <p:spPr>
          <a:xfrm>
            <a:off x="8247888" y="3520440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3483864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3. Runtime execution path
</a:t>
            </a:r>
            <a:r>
              <a:rPr sz="930">
                <a:solidFill>
                  <a:srgbClr val="586370"/>
                </a:solidFill>
              </a:rPr>
              <a:t>Controller persists requests, publishes Kafka instructions, and Worker executes through Gurobi.</a:t>
            </a:r>
          </a:p>
        </p:txBody>
      </p:sp>
      <p:sp>
        <p:nvSpPr>
          <p:cNvPr id="18" name="Oval 17"/>
          <p:cNvSpPr/>
          <p:nvPr/>
        </p:nvSpPr>
        <p:spPr>
          <a:xfrm>
            <a:off x="8247888" y="4453128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4416552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4. Result and notification path
</a:t>
            </a:r>
            <a:r>
              <a:rPr sz="930">
                <a:solidFill>
                  <a:srgbClr val="586370"/>
                </a:solidFill>
              </a:rPr>
              <a:t>Controller projects lifecycle and result state and can notify subscribers via /optimisation/hub.</a:t>
            </a:r>
          </a:p>
        </p:txBody>
      </p:sp>
      <p:sp>
        <p:nvSpPr>
          <p:cNvPr id="20" name="Oval 19"/>
          <p:cNvSpPr/>
          <p:nvPr/>
        </p:nvSpPr>
        <p:spPr>
          <a:xfrm>
            <a:off x="8247888" y="5385816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2" y="5349240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5. Source of truth rule
</a:t>
            </a:r>
            <a:r>
              <a:rPr sz="930">
                <a:solidFill>
                  <a:srgbClr val="586370"/>
                </a:solidFill>
              </a:rPr>
              <a:t>GET /optimisation/{id} remains authoritative; webhooks and screens are notifications and views.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870448"/>
            <a:ext cx="3337560" cy="36576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8472" y="5934456"/>
            <a:ext cx="30998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0A203F"/>
                </a:solidFill>
              </a:rPr>
              <a:t>Backup slide — full logical view retained for technical discussion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67114EC-E6C9-E6CF-1ED8-0EF1D9125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826" y="694944"/>
            <a:ext cx="6857827" cy="5769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1560</Words>
  <Application>Microsoft Macintosh PowerPoint</Application>
  <PresentationFormat>Widescreen</PresentationFormat>
  <Paragraphs>261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Telstra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Platform Software Architecture Baseline — Executive Pack</dc:title>
  <dc:subject>Optimisation Platform Software Architecture Executive Pack</dc:subject>
  <dc:creator>OpenAI</dc:creator>
  <cp:lastModifiedBy>Warnak, Prageeth</cp:lastModifiedBy>
  <cp:revision>20</cp:revision>
  <dcterms:created xsi:type="dcterms:W3CDTF">2026-05-26T16:33:16Z</dcterms:created>
  <dcterms:modified xsi:type="dcterms:W3CDTF">2026-05-27T09:20:38Z</dcterms:modified>
</cp:coreProperties>
</file>