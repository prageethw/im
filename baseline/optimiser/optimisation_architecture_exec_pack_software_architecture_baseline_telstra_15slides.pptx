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4" r:id="rId10"/>
    <p:sldId id="267" r:id="rId11"/>
    <p:sldId id="272" r:id="rId12"/>
    <p:sldId id="274" r:id="rId13"/>
    <p:sldId id="273" r:id="rId14"/>
    <p:sldId id="265" r:id="rId15"/>
    <p:sldId id="275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C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27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0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803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— queue ownership: The Controller owns the runtime Optimisation record, the outbox write, and the final lifecycle/result projection. The Worker owns consumption from the optimisation event topic and the Gurobi execution path.</a:t>
            </a:r>
          </a:p>
          <a:p>
            <a:r>
              <a:rPr lang="en-US"/>
              <a:t>If asked: OC MS writes OptimisationRequestedEvent to its outbox and publishes to t7.optimisation.events. OW MS consumes that topic using its own consumer group. OC MS later consumes OptimisationCompletedEvent and projects the lifecycle/result back into the runtime resource.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12432-967A-D0A0-259E-7B0747F83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0276D5-B38C-0154-B420-F99E8276C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B2F5E-0669-7465-0117-C6E7A58AF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F196E-89B2-A353-B8AD-5F932D7E7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0580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— circuit breaker context: Circuit breakers stop us making a bad situation worse. If a dependency is down, the platform either uses a safe source-of-truth path or fails transparently.</a:t>
            </a:r>
          </a:p>
          <a:p>
            <a:r>
              <a:rPr lang="en-US"/>
              <a:t>Executive wording: If the platform cannot safely complete the operation, it returns a clear failure such as 503; it does not fake success, lifecycle state, validation, security, or result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400800"/>
          </a:xfrm>
          <a:prstGeom prst="rect">
            <a:avLst/>
          </a:prstGeom>
          <a:solidFill>
            <a:srgbClr val="0D5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0"/>
            <a:ext cx="201168" cy="6400800"/>
          </a:xfrm>
          <a:prstGeom prst="rect">
            <a:avLst/>
          </a:prstGeom>
          <a:solidFill>
            <a:srgbClr val="F9644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02336" y="0"/>
            <a:ext cx="201168" cy="6400800"/>
          </a:xfrm>
          <a:prstGeom prst="rect">
            <a:avLst/>
          </a:prstGeom>
          <a:solidFill>
            <a:srgbClr val="16C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23444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Optimisation Platform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60120" y="18105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5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Software Architecture Executive Pack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987552" y="24231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architecture baseline · governed, reusable optimisation for network and platform decisioning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0120" y="3063240"/>
            <a:ext cx="7315200" cy="18288"/>
          </a:xfrm>
          <a:prstGeom prst="rect">
            <a:avLst/>
          </a:prstGeom>
          <a:solidFill>
            <a:srgbClr val="E9EDF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3364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449"/>
                </a:solidFill>
              </a:rPr>
              <a:t>Technical executive 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3675888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31A35"/>
                </a:solidFill>
              </a:rPr>
              <a:t>How the service architecture, data stores, cache strategy, identity path and event model fit together.</a:t>
            </a:r>
            <a:endParaRPr lang="en-US" sz="1800" dirty="0"/>
          </a:p>
        </p:txBody>
      </p:sp>
      <p:pic>
        <p:nvPicPr>
          <p:cNvPr id="11" name="Image 0" descr="/mnt/data/telst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516" y="1280160"/>
            <a:ext cx="1677848" cy="19202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281160" y="331012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TELSTRA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658" y="6473952"/>
            <a:ext cx="2020976" cy="109728"/>
          </a:xfrm>
          <a:prstGeom prst="rect">
            <a:avLst/>
          </a:prstGeom>
          <a:solidFill>
            <a:srgbClr val="0D54FF"/>
          </a:solidFill>
          <a:ln w="12700">
            <a:solidFill>
              <a:srgbClr val="0D5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035607" y="6473952"/>
            <a:ext cx="2020976" cy="109728"/>
          </a:xfrm>
          <a:prstGeom prst="rect">
            <a:avLst/>
          </a:prstGeom>
          <a:solidFill>
            <a:srgbClr val="F96449"/>
          </a:solidFill>
          <a:ln w="12700">
            <a:solidFill>
              <a:srgbClr val="F964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067556" y="6473952"/>
            <a:ext cx="2020976" cy="109728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099505" y="6473952"/>
            <a:ext cx="2020976" cy="109728"/>
          </a:xfrm>
          <a:prstGeom prst="rect">
            <a:avLst/>
          </a:prstGeom>
          <a:solidFill>
            <a:srgbClr val="6C3BFF"/>
          </a:solidFill>
          <a:ln w="12700">
            <a:solidFill>
              <a:srgbClr val="6C3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131454" y="6473952"/>
            <a:ext cx="2020976" cy="109728"/>
          </a:xfrm>
          <a:prstGeom prst="rect">
            <a:avLst/>
          </a:prstGeom>
          <a:solidFill>
            <a:srgbClr val="19B66A"/>
          </a:solidFill>
          <a:ln w="12700">
            <a:solidFill>
              <a:srgbClr val="19B6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0163404" y="6473952"/>
            <a:ext cx="2020976" cy="109728"/>
          </a:xfrm>
          <a:prstGeom prst="rect">
            <a:avLst/>
          </a:prstGeom>
          <a:solidFill>
            <a:srgbClr val="E72C83"/>
          </a:solidFill>
          <a:ln w="12700">
            <a:solidFill>
              <a:srgbClr val="E72C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11480" y="660196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Optimisation platform · software architecture baseline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3017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executive message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881360" y="228600"/>
            <a:ext cx="969264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9ED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telst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3693" y="283464"/>
            <a:ext cx="431447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41732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31A35"/>
                </a:solidFill>
              </a:rPr>
              <a:t>A shared optimisation platform turns bespoke solver work into a governed, reusable enterprise capability.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77240" y="2450592"/>
            <a:ext cx="31546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78408" y="2697480"/>
            <a:ext cx="512064" cy="512064"/>
          </a:xfrm>
          <a:prstGeom prst="ellipse">
            <a:avLst/>
          </a:prstGeom>
          <a:solidFill>
            <a:srgbClr val="0D5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78408" y="281635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645920" y="26791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1A35"/>
                </a:solidFill>
              </a:rPr>
              <a:t>Faster decisions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51560" y="3383280"/>
            <a:ext cx="267004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r>
              <a:t>Reusable request contracts and asynchronous execution reduce one-off integration effort.</a:t>
            </a:r>
          </a:p>
        </p:txBody>
      </p:sp>
      <p:sp>
        <p:nvSpPr>
          <p:cNvPr id="12" name="Shape 9"/>
          <p:cNvSpPr/>
          <p:nvPr/>
        </p:nvSpPr>
        <p:spPr>
          <a:xfrm>
            <a:off x="4480560" y="2450592"/>
            <a:ext cx="31546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681728" y="2697480"/>
            <a:ext cx="512064" cy="512064"/>
          </a:xfrm>
          <a:prstGeom prst="ellipse">
            <a:avLst/>
          </a:prstGeom>
          <a:solidFill>
            <a:srgbClr val="F9644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681728" y="281635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349240" y="26791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1A35"/>
                </a:solidFill>
              </a:rPr>
              <a:t>Safer control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754880" y="3383280"/>
            <a:ext cx="267004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</a:rPr>
              <a:t>Definition, control, screen-building and worker execution have clear ownership.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183880" y="2450592"/>
            <a:ext cx="31546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385048" y="2697480"/>
            <a:ext cx="512064" cy="512064"/>
          </a:xfrm>
          <a:prstGeom prst="ellipse">
            <a:avLst/>
          </a:prstGeom>
          <a:solidFill>
            <a:srgbClr val="16C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385048" y="281635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052560" y="26791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1A35"/>
                </a:solidFill>
              </a:rPr>
              <a:t>Operational resilience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458200" y="3383280"/>
            <a:ext cx="267004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</a:rPr>
              <a:t>PostgreSQL, outbox and inbox, cache guardrails, ETags, DLQ and webhooks protect the platform.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31520" y="5230368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Outcome: governed optimisation without exposing solver internals or weakening runtime audit ownership.</a:t>
            </a:r>
          </a:p>
          <a:p>
            <a:r>
              <a:t>Boundary: not a solver-modelling tool and not a Gurobi internals exposure path.</a:t>
            </a:r>
          </a:p>
        </p:txBody>
      </p:sp>
      <p:sp>
        <p:nvSpPr>
          <p:cNvPr id="23" name="Shape 20"/>
          <p:cNvSpPr/>
          <p:nvPr/>
        </p:nvSpPr>
        <p:spPr>
          <a:xfrm>
            <a:off x="3658" y="6473952"/>
            <a:ext cx="2020976" cy="109728"/>
          </a:xfrm>
          <a:prstGeom prst="rect">
            <a:avLst/>
          </a:prstGeom>
          <a:solidFill>
            <a:srgbClr val="0D54FF"/>
          </a:solidFill>
          <a:ln w="12700">
            <a:solidFill>
              <a:srgbClr val="0D5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2035607" y="6473952"/>
            <a:ext cx="2020976" cy="109728"/>
          </a:xfrm>
          <a:prstGeom prst="rect">
            <a:avLst/>
          </a:prstGeom>
          <a:solidFill>
            <a:srgbClr val="F96449"/>
          </a:solidFill>
          <a:ln w="12700">
            <a:solidFill>
              <a:srgbClr val="F964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067556" y="6473952"/>
            <a:ext cx="2020976" cy="109728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099505" y="6473952"/>
            <a:ext cx="2020976" cy="109728"/>
          </a:xfrm>
          <a:prstGeom prst="rect">
            <a:avLst/>
          </a:prstGeom>
          <a:solidFill>
            <a:srgbClr val="6C3BFF"/>
          </a:solidFill>
          <a:ln w="12700">
            <a:solidFill>
              <a:srgbClr val="6C3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8131454" y="6473952"/>
            <a:ext cx="2020976" cy="109728"/>
          </a:xfrm>
          <a:prstGeom prst="rect">
            <a:avLst/>
          </a:prstGeom>
          <a:solidFill>
            <a:srgbClr val="19B66A"/>
          </a:solidFill>
          <a:ln w="12700">
            <a:solidFill>
              <a:srgbClr val="19B6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10163404" y="6473952"/>
            <a:ext cx="2020976" cy="109728"/>
          </a:xfrm>
          <a:prstGeom prst="rect">
            <a:avLst/>
          </a:prstGeom>
          <a:solidFill>
            <a:srgbClr val="E72C83"/>
          </a:solidFill>
          <a:ln w="12700">
            <a:solidFill>
              <a:srgbClr val="E72C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11480" y="660196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Optimisation platform · software architecture baseline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in one picture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881360" y="228600"/>
            <a:ext cx="969264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9ED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telst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3693" y="283464"/>
            <a:ext cx="431447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143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6B7A"/>
                </a:solidFill>
              </a:rPr>
              <a:t>Four microservices separate catalogue governance, runtime control, experience shaping and solver execution.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331720" y="3657600"/>
            <a:ext cx="640080" cy="0"/>
          </a:xfrm>
          <a:prstGeom prst="line">
            <a:avLst/>
          </a:prstGeom>
          <a:noFill/>
          <a:ln w="25400">
            <a:solidFill>
              <a:srgbClr val="0D54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892040" y="3657600"/>
            <a:ext cx="777240" cy="0"/>
          </a:xfrm>
          <a:prstGeom prst="line">
            <a:avLst/>
          </a:prstGeom>
          <a:noFill/>
          <a:ln w="25400">
            <a:solidFill>
              <a:srgbClr val="0D54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635240" y="3657600"/>
            <a:ext cx="777240" cy="0"/>
          </a:xfrm>
          <a:prstGeom prst="line">
            <a:avLst/>
          </a:prstGeom>
          <a:noFill/>
          <a:ln w="25400">
            <a:solidFill>
              <a:srgbClr val="F9644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601200" y="3017520"/>
            <a:ext cx="0" cy="0"/>
          </a:xfrm>
          <a:prstGeom prst="line">
            <a:avLst/>
          </a:prstGeom>
          <a:noFill/>
          <a:ln w="25400">
            <a:solidFill>
              <a:srgbClr val="F9644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921240" y="2880360"/>
            <a:ext cx="0" cy="137160"/>
          </a:xfrm>
          <a:prstGeom prst="line">
            <a:avLst/>
          </a:prstGeom>
          <a:noFill/>
          <a:ln w="25400">
            <a:solidFill>
              <a:srgbClr val="16C7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85800" y="2926080"/>
            <a:ext cx="1783080" cy="1417320"/>
          </a:xfrm>
          <a:prstGeom prst="roundRect">
            <a:avLst>
              <a:gd name="adj" fmla="val 6452"/>
            </a:avLst>
          </a:prstGeom>
          <a:solidFill>
            <a:srgbClr val="F6F2FF"/>
          </a:solidFill>
          <a:ln w="17780">
            <a:solidFill>
              <a:srgbClr val="6C3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77240" y="303580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C3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Screen Builder MS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77240" y="3355848"/>
            <a:ext cx="16002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3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Optimisation Screen Builder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3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views, forms, actions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063240" y="2926080"/>
            <a:ext cx="1874520" cy="1417320"/>
          </a:xfrm>
          <a:prstGeom prst="roundRect">
            <a:avLst>
              <a:gd name="adj" fmla="val 6452"/>
            </a:avLst>
          </a:prstGeom>
          <a:solidFill>
            <a:srgbClr val="EEF4FF"/>
          </a:solidFill>
          <a:ln w="17780">
            <a:solidFill>
              <a:srgbClr val="0D5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154680" y="303580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5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Controller MS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154680" y="3355848"/>
            <a:ext cx="16916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3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Optimisation Controller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3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lifecycle + result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806440" y="3063240"/>
            <a:ext cx="1600200" cy="114300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 w="17780">
            <a:solidFill>
              <a:srgbClr val="131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897880" y="317296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Kafka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897880" y="3493008"/>
            <a:ext cx="1417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3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events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3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outbox and inbox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412480" y="2926080"/>
            <a:ext cx="1874520" cy="1417320"/>
          </a:xfrm>
          <a:prstGeom prst="roundRect">
            <a:avLst>
              <a:gd name="adj" fmla="val 6452"/>
            </a:avLst>
          </a:prstGeom>
          <a:solidFill>
            <a:srgbClr val="FFF3F0"/>
          </a:solidFill>
          <a:ln w="17780">
            <a:solidFill>
              <a:srgbClr val="F96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503920" y="303580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96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Worker MS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503920" y="3355848"/>
            <a:ext cx="16916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3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Optimisation Worker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3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and Gurobi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063240" y="178308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EFFAF4"/>
          </a:solidFill>
          <a:ln w="17780">
            <a:solidFill>
              <a:srgbClr val="19B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154680" y="189280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9B6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Definition MS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3154680" y="2212848"/>
            <a:ext cx="16916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3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Optimisation Definition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3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contracts + versions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8412480" y="173736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ECFBFF"/>
          </a:solidFill>
          <a:ln w="1778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503920" y="184708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6C7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Gurobi</a:t>
            </a:r>
            <a:endParaRPr lang="en-US" sz="1320" dirty="0"/>
          </a:p>
        </p:txBody>
      </p:sp>
      <p:sp>
        <p:nvSpPr>
          <p:cNvPr id="29" name="Text 26"/>
          <p:cNvSpPr/>
          <p:nvPr/>
        </p:nvSpPr>
        <p:spPr>
          <a:xfrm>
            <a:off x="8503920" y="2167128"/>
            <a:ext cx="16916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3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solver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3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binding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04672" y="47091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3BFF"/>
                </a:solidFill>
              </a:rPr>
              <a:t>Presentation path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291840" y="4709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54FF"/>
                </a:solidFill>
              </a:rPr>
              <a:t>Control plane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355679" y="47091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6449"/>
                </a:solidFill>
              </a:rPr>
              <a:t>Execution plane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85800" y="503428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r>
              <a:rPr dirty="0"/>
              <a:t>Key point: Controller MS is the runtime source of truth; it validates requests against ACTIVE Definition contracts. Worker MS emits facts</a:t>
            </a:r>
            <a:r>
              <a:rPr lang="en-AU" dirty="0"/>
              <a:t>, state of that model execution, Definition MS gives us the source of truth reference of capability model</a:t>
            </a:r>
            <a:r>
              <a:rPr dirty="0"/>
              <a:t>.</a:t>
            </a:r>
          </a:p>
        </p:txBody>
      </p:sp>
      <p:sp>
        <p:nvSpPr>
          <p:cNvPr id="34" name="Shape 31"/>
          <p:cNvSpPr/>
          <p:nvPr/>
        </p:nvSpPr>
        <p:spPr>
          <a:xfrm>
            <a:off x="3658" y="6473952"/>
            <a:ext cx="2020976" cy="109728"/>
          </a:xfrm>
          <a:prstGeom prst="rect">
            <a:avLst/>
          </a:prstGeom>
          <a:solidFill>
            <a:srgbClr val="0D54FF"/>
          </a:solidFill>
          <a:ln w="12700">
            <a:solidFill>
              <a:srgbClr val="0D5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2035607" y="6473952"/>
            <a:ext cx="2020976" cy="109728"/>
          </a:xfrm>
          <a:prstGeom prst="rect">
            <a:avLst/>
          </a:prstGeom>
          <a:solidFill>
            <a:srgbClr val="F96449"/>
          </a:solidFill>
          <a:ln w="12700">
            <a:solidFill>
              <a:srgbClr val="F964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4067556" y="6473952"/>
            <a:ext cx="2020976" cy="109728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6099505" y="6473952"/>
            <a:ext cx="2020976" cy="109728"/>
          </a:xfrm>
          <a:prstGeom prst="rect">
            <a:avLst/>
          </a:prstGeom>
          <a:solidFill>
            <a:srgbClr val="6C3BFF"/>
          </a:solidFill>
          <a:ln w="12700">
            <a:solidFill>
              <a:srgbClr val="6C3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8131454" y="6473952"/>
            <a:ext cx="2020976" cy="109728"/>
          </a:xfrm>
          <a:prstGeom prst="rect">
            <a:avLst/>
          </a:prstGeom>
          <a:solidFill>
            <a:srgbClr val="19B66A"/>
          </a:solidFill>
          <a:ln w="12700">
            <a:solidFill>
              <a:srgbClr val="19B6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10163404" y="6473952"/>
            <a:ext cx="2020976" cy="109728"/>
          </a:xfrm>
          <a:prstGeom prst="rect">
            <a:avLst/>
          </a:prstGeom>
          <a:solidFill>
            <a:srgbClr val="E72C83"/>
          </a:solidFill>
          <a:ln w="12700">
            <a:solidFill>
              <a:srgbClr val="E72C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411480" y="660196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Optimisation platform · software architecture baseline</a:t>
            </a:r>
            <a:endParaRPr lang="en-US" sz="750" dirty="0"/>
          </a:p>
        </p:txBody>
      </p:sp>
      <p:sp>
        <p:nvSpPr>
          <p:cNvPr id="41" name="TextBox 40"/>
          <p:cNvSpPr txBox="1"/>
          <p:nvPr/>
        </p:nvSpPr>
        <p:spPr>
          <a:xfrm>
            <a:off x="566928" y="5504688"/>
            <a:ext cx="2011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1">
                <a:solidFill>
                  <a:srgbClr val="0056A0"/>
                </a:solidFill>
              </a:rPr>
              <a:t>Platform runtime stack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5715000"/>
            <a:ext cx="1234440" cy="502920"/>
          </a:xfrm>
          <a:prstGeom prst="roundRect">
            <a:avLst/>
          </a:prstGeom>
          <a:solidFill>
            <a:srgbClr val="EEF6FA"/>
          </a:solidFill>
          <a:ln w="1397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2004" rIns="64008" bIns="18288" rtlCol="0" anchor="ctr"/>
          <a:lstStyle/>
          <a:p>
            <a:pPr algn="ctr"/>
            <a:r>
              <a:rPr sz="740" b="1" dirty="0">
                <a:solidFill>
                  <a:srgbClr val="0056A0"/>
                </a:solidFill>
              </a:rPr>
              <a:t>Gateways</a:t>
            </a:r>
          </a:p>
          <a:p>
            <a:pPr algn="ctr"/>
            <a:r>
              <a:rPr sz="620" dirty="0">
                <a:solidFill>
                  <a:srgbClr val="232D37"/>
                </a:solidFill>
              </a:rPr>
              <a:t>OGW and NGW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892808" y="5715000"/>
            <a:ext cx="2148840" cy="502920"/>
          </a:xfrm>
          <a:prstGeom prst="roundRect">
            <a:avLst/>
          </a:prstGeom>
          <a:solidFill>
            <a:srgbClr val="EEF6FA"/>
          </a:solidFill>
          <a:ln w="13970">
            <a:solidFill>
              <a:srgbClr val="4F27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2004" rIns="64008" bIns="18288" rtlCol="0" anchor="ctr"/>
          <a:lstStyle/>
          <a:p>
            <a:pPr algn="ctr"/>
            <a:r>
              <a:rPr sz="740" b="1">
                <a:solidFill>
                  <a:srgbClr val="4F2783"/>
                </a:solidFill>
              </a:rPr>
              <a:t>Spring Boot services</a:t>
            </a:r>
          </a:p>
          <a:p>
            <a:pPr algn="ctr"/>
            <a:r>
              <a:rPr sz="620">
                <a:solidFill>
                  <a:srgbClr val="232D37"/>
                </a:solidFill>
              </a:rPr>
              <a:t>Definition · Controller · Screen Builder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33088" y="5715000"/>
            <a:ext cx="1874519" cy="502920"/>
          </a:xfrm>
          <a:prstGeom prst="roundRect">
            <a:avLst/>
          </a:prstGeom>
          <a:solidFill>
            <a:srgbClr val="EEF6FA"/>
          </a:solidFill>
          <a:ln w="13970"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2004" rIns="64008" bIns="18288" rtlCol="0" anchor="ctr"/>
          <a:lstStyle/>
          <a:p>
            <a:pPr algn="ctr"/>
            <a:r>
              <a:rPr sz="740" b="1">
                <a:solidFill>
                  <a:srgbClr val="00A699"/>
                </a:solidFill>
              </a:rPr>
              <a:t>Python worker</a:t>
            </a:r>
          </a:p>
          <a:p>
            <a:pPr algn="ctr"/>
            <a:r>
              <a:rPr sz="620">
                <a:solidFill>
                  <a:srgbClr val="232D37"/>
                </a:solidFill>
              </a:rPr>
              <a:t>Optimisation Worker with Gurobi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99047" y="5715000"/>
            <a:ext cx="1691640" cy="502920"/>
          </a:xfrm>
          <a:prstGeom prst="roundRect">
            <a:avLst/>
          </a:prstGeom>
          <a:solidFill>
            <a:srgbClr val="EEF6FA"/>
          </a:solidFill>
          <a:ln w="1397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2004" rIns="64008" bIns="18288" rtlCol="0" anchor="ctr"/>
          <a:lstStyle/>
          <a:p>
            <a:pPr algn="ctr"/>
            <a:r>
              <a:rPr sz="740" b="1">
                <a:solidFill>
                  <a:srgbClr val="0056A0"/>
                </a:solidFill>
              </a:rPr>
              <a:t>Data stores</a:t>
            </a:r>
          </a:p>
          <a:p>
            <a:pPr algn="ctr"/>
            <a:r>
              <a:rPr sz="620">
                <a:solidFill>
                  <a:srgbClr val="232D37"/>
                </a:solidFill>
              </a:rPr>
              <a:t>PostgreSQL · Redis cache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82127" y="5715000"/>
            <a:ext cx="1325880" cy="502920"/>
          </a:xfrm>
          <a:prstGeom prst="roundRect">
            <a:avLst/>
          </a:prstGeom>
          <a:solidFill>
            <a:srgbClr val="EEF6FA"/>
          </a:solidFill>
          <a:ln w="13970">
            <a:solidFill>
              <a:srgbClr val="4F27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2004" rIns="64008" bIns="18288" rtlCol="0" anchor="ctr"/>
          <a:lstStyle/>
          <a:p>
            <a:pPr algn="ctr"/>
            <a:r>
              <a:rPr sz="740" b="1">
                <a:solidFill>
                  <a:srgbClr val="4F2783"/>
                </a:solidFill>
              </a:rPr>
              <a:t>Event backbone</a:t>
            </a:r>
          </a:p>
          <a:p>
            <a:pPr algn="ctr"/>
            <a:r>
              <a:rPr sz="620">
                <a:solidFill>
                  <a:srgbClr val="232D37"/>
                </a:solidFill>
              </a:rPr>
              <a:t>Kafka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99447" y="5715000"/>
            <a:ext cx="1417320" cy="502920"/>
          </a:xfrm>
          <a:prstGeom prst="roundRect">
            <a:avLst/>
          </a:prstGeom>
          <a:solidFill>
            <a:srgbClr val="EEF6FA"/>
          </a:solidFill>
          <a:ln w="13970"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2004" rIns="64008" bIns="18288" rtlCol="0" anchor="ctr"/>
          <a:lstStyle/>
          <a:p>
            <a:pPr algn="ctr"/>
            <a:r>
              <a:rPr sz="740" b="1">
                <a:solidFill>
                  <a:srgbClr val="00A699"/>
                </a:solidFill>
              </a:rPr>
              <a:t>Runtime platform</a:t>
            </a:r>
          </a:p>
          <a:p>
            <a:pPr algn="ctr"/>
            <a:r>
              <a:rPr sz="620">
                <a:solidFill>
                  <a:srgbClr val="232D37"/>
                </a:solidFill>
              </a:rPr>
              <a:t>Kubernetes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</a:t>
            </a:r>
            <a:r>
              <a:rPr lang="en-US" sz="850" b="1" dirty="0">
                <a:solidFill>
                  <a:srgbClr val="0D5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b="1" dirty="0">
                <a:solidFill>
                  <a:srgbClr val="0D5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a request becomes an outcome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881360" y="228600"/>
            <a:ext cx="969264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9ED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telst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3693" y="283464"/>
            <a:ext cx="431447" cy="4937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0" y="2670048"/>
            <a:ext cx="429768" cy="0"/>
          </a:xfrm>
          <a:prstGeom prst="line">
            <a:avLst/>
          </a:prstGeom>
          <a:noFill/>
          <a:ln w="21590">
            <a:solidFill>
              <a:srgbClr val="0D54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730752" y="2670048"/>
            <a:ext cx="429768" cy="0"/>
          </a:xfrm>
          <a:prstGeom prst="line">
            <a:avLst/>
          </a:prstGeom>
          <a:noFill/>
          <a:ln w="21590">
            <a:solidFill>
              <a:srgbClr val="0D54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632704" y="2670048"/>
            <a:ext cx="429768" cy="0"/>
          </a:xfrm>
          <a:prstGeom prst="line">
            <a:avLst/>
          </a:prstGeom>
          <a:noFill/>
          <a:ln w="21590">
            <a:solidFill>
              <a:srgbClr val="0D54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534656" y="2670048"/>
            <a:ext cx="429768" cy="0"/>
          </a:xfrm>
          <a:prstGeom prst="line">
            <a:avLst/>
          </a:prstGeom>
          <a:noFill/>
          <a:ln w="21590">
            <a:solidFill>
              <a:srgbClr val="F9644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436608" y="2670048"/>
            <a:ext cx="429768" cy="0"/>
          </a:xfrm>
          <a:prstGeom prst="line">
            <a:avLst/>
          </a:prstGeom>
          <a:noFill/>
          <a:ln w="21590">
            <a:solidFill>
              <a:srgbClr val="F9644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02920" y="2148840"/>
            <a:ext cx="1417320" cy="18745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240">
            <a:solidFill>
              <a:srgbClr val="0D5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32688" y="2331720"/>
            <a:ext cx="548640" cy="548640"/>
          </a:xfrm>
          <a:prstGeom prst="ellipse">
            <a:avLst/>
          </a:prstGeom>
          <a:solidFill>
            <a:srgbClr val="0D5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32688" y="24597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2648" y="30632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1A35"/>
                </a:solidFill>
              </a:rPr>
              <a:t>Create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94360" y="3392424"/>
            <a:ext cx="1225296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F6B7A"/>
                </a:solidFill>
              </a:rPr>
              <a:t>POST /optimisation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5F6B7A"/>
                </a:solidFill>
              </a:rPr>
              <a:t>201 Created</a:t>
            </a:r>
            <a:endParaRPr lang="en-US" sz="830" dirty="0"/>
          </a:p>
        </p:txBody>
      </p:sp>
      <p:sp>
        <p:nvSpPr>
          <p:cNvPr id="16" name="Shape 13"/>
          <p:cNvSpPr/>
          <p:nvPr/>
        </p:nvSpPr>
        <p:spPr>
          <a:xfrm>
            <a:off x="2404872" y="2148840"/>
            <a:ext cx="1417320" cy="18745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240">
            <a:solidFill>
              <a:srgbClr val="0D5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834640" y="2331720"/>
            <a:ext cx="548640" cy="548640"/>
          </a:xfrm>
          <a:prstGeom prst="ellipse">
            <a:avLst/>
          </a:prstGeom>
          <a:solidFill>
            <a:srgbClr val="0D5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834640" y="24597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514600" y="30632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1A35"/>
                </a:solidFill>
              </a:rPr>
              <a:t>Validate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2496312" y="3392424"/>
            <a:ext cx="1225296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F6B7A"/>
                </a:solidFill>
              </a:rPr>
              <a:t>Controller resolves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5F6B7A"/>
                </a:solidFill>
              </a:rPr>
              <a:t>ACTIVE Definition contract</a:t>
            </a:r>
            <a:endParaRPr lang="en-US" sz="830" dirty="0"/>
          </a:p>
        </p:txBody>
      </p:sp>
      <p:sp>
        <p:nvSpPr>
          <p:cNvPr id="21" name="Shape 18"/>
          <p:cNvSpPr/>
          <p:nvPr/>
        </p:nvSpPr>
        <p:spPr>
          <a:xfrm>
            <a:off x="4306824" y="2148840"/>
            <a:ext cx="1417320" cy="18745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240">
            <a:solidFill>
              <a:srgbClr val="0D5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736592" y="2331720"/>
            <a:ext cx="548640" cy="548640"/>
          </a:xfrm>
          <a:prstGeom prst="ellipse">
            <a:avLst/>
          </a:prstGeom>
          <a:solidFill>
            <a:srgbClr val="0D5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736592" y="24597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416552" y="30632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1A35"/>
                </a:solidFill>
              </a:rPr>
              <a:t>Persist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398264" y="3392424"/>
            <a:ext cx="1225296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F6B7A"/>
                </a:solidFill>
              </a:rPr>
              <a:t>runtime + outbox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5F6B7A"/>
                </a:solidFill>
              </a:rPr>
              <a:t>ACKNOWLEDGED</a:t>
            </a:r>
            <a:endParaRPr lang="en-US" sz="830" dirty="0"/>
          </a:p>
        </p:txBody>
      </p:sp>
      <p:sp>
        <p:nvSpPr>
          <p:cNvPr id="26" name="Shape 23"/>
          <p:cNvSpPr/>
          <p:nvPr/>
        </p:nvSpPr>
        <p:spPr>
          <a:xfrm>
            <a:off x="6208776" y="2148840"/>
            <a:ext cx="1417320" cy="18745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240">
            <a:solidFill>
              <a:srgbClr val="F96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638544" y="2331720"/>
            <a:ext cx="548640" cy="548640"/>
          </a:xfrm>
          <a:prstGeom prst="ellipse">
            <a:avLst/>
          </a:prstGeom>
          <a:solidFill>
            <a:srgbClr val="F9644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638544" y="24597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318504" y="30632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1A35"/>
                </a:solidFill>
              </a:rPr>
              <a:t>Execute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6300216" y="3392424"/>
            <a:ext cx="1225296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F6B7A"/>
                </a:solidFill>
              </a:rPr>
              <a:t>Kafka -&gt; Worker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5F6B7A"/>
                </a:solidFill>
              </a:rPr>
              <a:t>Gurobi</a:t>
            </a:r>
            <a:endParaRPr lang="en-US" sz="830" dirty="0"/>
          </a:p>
        </p:txBody>
      </p:sp>
      <p:sp>
        <p:nvSpPr>
          <p:cNvPr id="31" name="Shape 28"/>
          <p:cNvSpPr/>
          <p:nvPr/>
        </p:nvSpPr>
        <p:spPr>
          <a:xfrm>
            <a:off x="8110728" y="2148840"/>
            <a:ext cx="1417320" cy="18745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240">
            <a:solidFill>
              <a:srgbClr val="F96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8540496" y="2331720"/>
            <a:ext cx="548640" cy="548640"/>
          </a:xfrm>
          <a:prstGeom prst="ellipse">
            <a:avLst/>
          </a:prstGeom>
          <a:solidFill>
            <a:srgbClr val="F9644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8540496" y="24597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220456" y="30632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1A35"/>
                </a:solidFill>
              </a:rPr>
              <a:t>Project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8202168" y="3392424"/>
            <a:ext cx="1225296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F6B7A"/>
                </a:solidFill>
              </a:rPr>
              <a:t>Controller inbox projects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5F6B7A"/>
                </a:solidFill>
              </a:rPr>
              <a:t>lifecycle and result</a:t>
            </a:r>
            <a:endParaRPr lang="en-US" sz="830" dirty="0"/>
          </a:p>
        </p:txBody>
      </p:sp>
      <p:sp>
        <p:nvSpPr>
          <p:cNvPr id="36" name="Shape 33"/>
          <p:cNvSpPr/>
          <p:nvPr/>
        </p:nvSpPr>
        <p:spPr>
          <a:xfrm>
            <a:off x="10012680" y="2148840"/>
            <a:ext cx="1417320" cy="18745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24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10442448" y="2331720"/>
            <a:ext cx="548640" cy="548640"/>
          </a:xfrm>
          <a:prstGeom prst="ellipse">
            <a:avLst/>
          </a:prstGeom>
          <a:solidFill>
            <a:srgbClr val="16C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10442448" y="24597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0122408" y="2972355"/>
            <a:ext cx="1188720" cy="365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1A35"/>
                </a:solidFill>
              </a:rPr>
              <a:t>Read(pull) and notify(push)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10104120" y="3392424"/>
            <a:ext cx="1225296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F6B7A"/>
                </a:solidFill>
              </a:rPr>
              <a:t>GET /optimisation/{id}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5F6B7A"/>
                </a:solidFill>
              </a:rPr>
              <a:t>or webhook</a:t>
            </a:r>
            <a:endParaRPr lang="en-US" sz="830" dirty="0"/>
          </a:p>
        </p:txBody>
      </p:sp>
      <p:sp>
        <p:nvSpPr>
          <p:cNvPr id="41" name="Shape 38"/>
          <p:cNvSpPr/>
          <p:nvPr/>
        </p:nvSpPr>
        <p:spPr>
          <a:xfrm>
            <a:off x="868680" y="4754880"/>
            <a:ext cx="10424160" cy="694944"/>
          </a:xfrm>
          <a:prstGeom prst="roundRect">
            <a:avLst>
              <a:gd name="adj" fmla="val 15789"/>
            </a:avLst>
          </a:prstGeom>
          <a:solidFill>
            <a:srgbClr val="131A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1143000" y="49560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Asynchronous by design: REST request latency stops at validation + persistence; solver time stays in the worker plane.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3658" y="6473952"/>
            <a:ext cx="2020976" cy="109728"/>
          </a:xfrm>
          <a:prstGeom prst="rect">
            <a:avLst/>
          </a:prstGeom>
          <a:solidFill>
            <a:srgbClr val="0D54FF"/>
          </a:solidFill>
          <a:ln w="12700">
            <a:solidFill>
              <a:srgbClr val="0D5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2035607" y="6473952"/>
            <a:ext cx="2020976" cy="109728"/>
          </a:xfrm>
          <a:prstGeom prst="rect">
            <a:avLst/>
          </a:prstGeom>
          <a:solidFill>
            <a:srgbClr val="F96449"/>
          </a:solidFill>
          <a:ln w="12700">
            <a:solidFill>
              <a:srgbClr val="F964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4067556" y="6473952"/>
            <a:ext cx="2020976" cy="109728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6099505" y="6473952"/>
            <a:ext cx="2020976" cy="109728"/>
          </a:xfrm>
          <a:prstGeom prst="rect">
            <a:avLst/>
          </a:prstGeom>
          <a:solidFill>
            <a:srgbClr val="6C3BFF"/>
          </a:solidFill>
          <a:ln w="12700">
            <a:solidFill>
              <a:srgbClr val="6C3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8131454" y="6473952"/>
            <a:ext cx="2020976" cy="109728"/>
          </a:xfrm>
          <a:prstGeom prst="rect">
            <a:avLst/>
          </a:prstGeom>
          <a:solidFill>
            <a:srgbClr val="19B66A"/>
          </a:solidFill>
          <a:ln w="12700">
            <a:solidFill>
              <a:srgbClr val="19B6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10163404" y="6473952"/>
            <a:ext cx="2020976" cy="109728"/>
          </a:xfrm>
          <a:prstGeom prst="rect">
            <a:avLst/>
          </a:prstGeom>
          <a:solidFill>
            <a:srgbClr val="E72C83"/>
          </a:solidFill>
          <a:ln w="12700">
            <a:solidFill>
              <a:srgbClr val="E72C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411480" y="660196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9ED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Optimisation platform · software architecture baseline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Governance controls are built in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881360" y="228600"/>
            <a:ext cx="969264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9ED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telst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3693" y="283464"/>
            <a:ext cx="431447" cy="4937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45152" y="1874520"/>
            <a:ext cx="2880360" cy="2880360"/>
          </a:xfrm>
          <a:prstGeom prst="ellipse">
            <a:avLst/>
          </a:prstGeom>
          <a:solidFill>
            <a:srgbClr val="131A35"/>
          </a:solidFill>
          <a:ln w="12700">
            <a:solidFill>
              <a:srgbClr val="131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74920" y="2651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Runtime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source of truth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919472" y="338328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C7E8"/>
                </a:solidFill>
              </a:rPr>
              <a:t>Optimisation Controller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77240" y="132588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7F9FC"/>
          </a:solidFill>
          <a:ln w="13970">
            <a:solidFill>
              <a:srgbClr val="19B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1463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B66A"/>
                </a:solidFill>
              </a:rPr>
              <a:t>Definition contract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F6B7A"/>
                </a:solidFill>
              </a:rPr>
              <a:t>ACTIVE spec only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5F6B7A"/>
                </a:solidFill>
              </a:rPr>
              <a:t>id + version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8549640" y="132588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7F9FC"/>
          </a:solidFill>
          <a:ln w="13970">
            <a:solidFill>
              <a:srgbClr val="0D5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686800" y="1463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54FF"/>
                </a:solidFill>
              </a:rPr>
              <a:t>ETag control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68680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F6B7A"/>
                </a:solidFill>
              </a:rPr>
              <a:t>If-Match for unsafe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5F6B7A"/>
                </a:solidFill>
              </a:rPr>
              <a:t>actions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868680" y="425196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7F9FC"/>
          </a:solidFill>
          <a:ln w="13970">
            <a:solidFill>
              <a:srgbClr val="F9644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005840" y="4389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6449"/>
                </a:solidFill>
              </a:rPr>
              <a:t>Circuit breakers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05840" y="4709160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AU" dirty="0"/>
              <a:t>fail fast, gracefully</a:t>
            </a:r>
          </a:p>
          <a:p>
            <a:r>
              <a:rPr lang="en-AU" dirty="0"/>
              <a:t>signal via x-</a:t>
            </a:r>
            <a:r>
              <a:rPr lang="en-AU" dirty="0" err="1"/>
              <a:t>cb</a:t>
            </a:r>
            <a:r>
              <a:rPr lang="en-AU" dirty="0"/>
              <a:t>-triggered</a:t>
            </a:r>
          </a:p>
        </p:txBody>
      </p:sp>
      <p:sp>
        <p:nvSpPr>
          <p:cNvPr id="18" name="Shape 15"/>
          <p:cNvSpPr/>
          <p:nvPr/>
        </p:nvSpPr>
        <p:spPr>
          <a:xfrm>
            <a:off x="8641080" y="425196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7F9FC"/>
          </a:solidFill>
          <a:ln w="13970">
            <a:solidFill>
              <a:srgbClr val="6C3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778240" y="4389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C3BFF"/>
                </a:solidFill>
              </a:rPr>
              <a:t>Security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778240" y="4709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F6B7A"/>
                </a:solidFill>
              </a:rPr>
              <a:t>mTLS + service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5F6B7A"/>
                </a:solidFill>
              </a:rPr>
              <a:t>identity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3337560" y="1828800"/>
            <a:ext cx="1280160" cy="685800"/>
          </a:xfrm>
          <a:prstGeom prst="line">
            <a:avLst/>
          </a:prstGeom>
          <a:noFill/>
          <a:ln w="15240">
            <a:solidFill>
              <a:srgbClr val="19B66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549640" y="1828800"/>
            <a:ext cx="0" cy="685800"/>
          </a:xfrm>
          <a:prstGeom prst="line">
            <a:avLst/>
          </a:prstGeom>
          <a:noFill/>
          <a:ln w="15240">
            <a:solidFill>
              <a:srgbClr val="0D54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337560" y="4663440"/>
            <a:ext cx="1280160" cy="0"/>
          </a:xfrm>
          <a:prstGeom prst="line">
            <a:avLst/>
          </a:prstGeom>
          <a:noFill/>
          <a:ln w="15240">
            <a:solidFill>
              <a:srgbClr val="F9644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641080" y="4663440"/>
            <a:ext cx="0" cy="0"/>
          </a:xfrm>
          <a:prstGeom prst="line">
            <a:avLst/>
          </a:prstGeom>
          <a:noFill/>
          <a:ln w="15240">
            <a:solidFill>
              <a:srgbClr val="6C3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051560" y="57424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1A35"/>
                </a:solidFill>
              </a:rPr>
              <a:t>Principle: every request is governed before execution, and every outcome is projected before it is exposed.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3658" y="6473952"/>
            <a:ext cx="2020976" cy="109728"/>
          </a:xfrm>
          <a:prstGeom prst="rect">
            <a:avLst/>
          </a:prstGeom>
          <a:solidFill>
            <a:srgbClr val="0D54FF"/>
          </a:solidFill>
          <a:ln w="12700">
            <a:solidFill>
              <a:srgbClr val="0D5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2035607" y="6473952"/>
            <a:ext cx="2020976" cy="109728"/>
          </a:xfrm>
          <a:prstGeom prst="rect">
            <a:avLst/>
          </a:prstGeom>
          <a:solidFill>
            <a:srgbClr val="F96449"/>
          </a:solidFill>
          <a:ln w="12700">
            <a:solidFill>
              <a:srgbClr val="F964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067556" y="6473952"/>
            <a:ext cx="2020976" cy="109728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099505" y="6473952"/>
            <a:ext cx="2020976" cy="109728"/>
          </a:xfrm>
          <a:prstGeom prst="rect">
            <a:avLst/>
          </a:prstGeom>
          <a:solidFill>
            <a:srgbClr val="6C3BFF"/>
          </a:solidFill>
          <a:ln w="12700">
            <a:solidFill>
              <a:srgbClr val="6C3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8131454" y="6473952"/>
            <a:ext cx="2020976" cy="109728"/>
          </a:xfrm>
          <a:prstGeom prst="rect">
            <a:avLst/>
          </a:prstGeom>
          <a:solidFill>
            <a:srgbClr val="19B66A"/>
          </a:solidFill>
          <a:ln w="12700">
            <a:solidFill>
              <a:srgbClr val="19B6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10163404" y="6473952"/>
            <a:ext cx="2020976" cy="109728"/>
          </a:xfrm>
          <a:prstGeom prst="rect">
            <a:avLst/>
          </a:prstGeom>
          <a:solidFill>
            <a:srgbClr val="E72C83"/>
          </a:solidFill>
          <a:ln w="12700">
            <a:solidFill>
              <a:srgbClr val="E72C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11480" y="660196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Optimisation platform · software architecture baseline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SAFETY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Persistence and cache strategy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881360" y="228600"/>
            <a:ext cx="969264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9ED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telst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3693" y="283464"/>
            <a:ext cx="431447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188720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dirty="0"/>
              <a:t>PostgreSQL is authoritative. </a:t>
            </a:r>
            <a:r>
              <a:rPr lang="en-AU" dirty="0"/>
              <a:t>Redis </a:t>
            </a:r>
            <a:r>
              <a:rPr dirty="0"/>
              <a:t>Cache is safe read acceleration only and never replaces lifecycle, audit or validation.</a:t>
            </a:r>
          </a:p>
        </p:txBody>
      </p:sp>
      <p:sp>
        <p:nvSpPr>
          <p:cNvPr id="7" name="Shape 4"/>
          <p:cNvSpPr/>
          <p:nvPr/>
        </p:nvSpPr>
        <p:spPr>
          <a:xfrm>
            <a:off x="777240" y="2240280"/>
            <a:ext cx="2743200" cy="1508760"/>
          </a:xfrm>
          <a:prstGeom prst="roundRect">
            <a:avLst>
              <a:gd name="adj" fmla="val 6061"/>
            </a:avLst>
          </a:prstGeom>
          <a:solidFill>
            <a:srgbClr val="EEF4FF"/>
          </a:solidFill>
          <a:ln w="17780">
            <a:solidFill>
              <a:srgbClr val="0D5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" y="23500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5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2670048"/>
            <a:ext cx="25603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3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of truth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3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specs, runtime, outbox and inbox, subscriptions, audit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17720" y="224028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FFF3F0"/>
          </a:solidFill>
          <a:ln w="17780">
            <a:solidFill>
              <a:srgbClr val="F96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709160" y="23500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64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Redis cache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709160" y="2670048"/>
            <a:ext cx="23774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non-authoritative</a:t>
            </a:r>
          </a:p>
          <a:p>
            <a:r>
              <a:t>safe read acceleration only</a:t>
            </a:r>
          </a:p>
        </p:txBody>
      </p:sp>
      <p:sp>
        <p:nvSpPr>
          <p:cNvPr id="13" name="Shape 10"/>
          <p:cNvSpPr/>
          <p:nvPr/>
        </p:nvSpPr>
        <p:spPr>
          <a:xfrm>
            <a:off x="8275320" y="2240280"/>
            <a:ext cx="2743200" cy="1508760"/>
          </a:xfrm>
          <a:prstGeom prst="roundRect">
            <a:avLst>
              <a:gd name="adj" fmla="val 6061"/>
            </a:avLst>
          </a:prstGeom>
          <a:solidFill>
            <a:srgbClr val="ECFBFF"/>
          </a:solidFill>
          <a:ln w="1778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366760" y="23500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C7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366760" y="2670048"/>
            <a:ext cx="25603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3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Definition, Controller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3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Screen Builder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520440" y="2926080"/>
            <a:ext cx="1097280" cy="0"/>
          </a:xfrm>
          <a:prstGeom prst="line">
            <a:avLst/>
          </a:prstGeom>
          <a:noFill/>
          <a:ln w="21590">
            <a:solidFill>
              <a:srgbClr val="0D54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178040" y="2926080"/>
            <a:ext cx="1097280" cy="0"/>
          </a:xfrm>
          <a:prstGeom prst="line">
            <a:avLst/>
          </a:prstGeom>
          <a:noFill/>
          <a:ln w="21590">
            <a:solidFill>
              <a:srgbClr val="F9644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77240" y="4297680"/>
            <a:ext cx="5074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1430">
            <a:solidFill>
              <a:srgbClr val="19B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41832" y="441655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9B66A"/>
                </a:solidFill>
              </a:rPr>
              <a:t>Definition contracts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2468880" y="439826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F6B7A"/>
                </a:solidFill>
              </a:rPr>
              <a:t>ACTIVE and RETIRED specifications are immutable and cache-safe by id + version.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6400800" y="4297680"/>
            <a:ext cx="5074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1430">
            <a:solidFill>
              <a:srgbClr val="0D5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565392" y="441655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D54FF"/>
                </a:solidFill>
              </a:rPr>
              <a:t>Controller request-result cache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092440" y="439826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F6B7A"/>
                </a:solidFill>
              </a:rPr>
              <a:t>Internal optimisation result reuse must still preserve runtime identity, audit and persistence, cache will be only enabled when it is in safe to cache state (</a:t>
            </a:r>
            <a:r>
              <a:rPr lang="en-US" sz="880" dirty="0" err="1">
                <a:solidFill>
                  <a:srgbClr val="5F6B7A"/>
                </a:solidFill>
              </a:rPr>
              <a:t>ex:terminal</a:t>
            </a:r>
            <a:r>
              <a:rPr lang="en-US" sz="880" dirty="0">
                <a:solidFill>
                  <a:srgbClr val="5F6B7A"/>
                </a:solidFill>
              </a:rPr>
              <a:t>)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777240" y="5047488"/>
            <a:ext cx="5074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1430">
            <a:solidFill>
              <a:srgbClr val="6C3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941832" y="51663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C3BFF"/>
                </a:solidFill>
              </a:rPr>
              <a:t>Screen Builder view cache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2468880" y="514807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F6B7A"/>
                </a:solidFill>
              </a:rPr>
              <a:t>Read-only capability, form and view data only where backend cache and lifecycle rules allow.</a:t>
            </a:r>
            <a:endParaRPr lang="en-US" sz="880" dirty="0"/>
          </a:p>
        </p:txBody>
      </p:sp>
      <p:sp>
        <p:nvSpPr>
          <p:cNvPr id="27" name="Shape 24"/>
          <p:cNvSpPr/>
          <p:nvPr/>
        </p:nvSpPr>
        <p:spPr>
          <a:xfrm>
            <a:off x="6400800" y="5047488"/>
            <a:ext cx="5074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1430">
            <a:solidFill>
              <a:srgbClr val="F96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565392" y="51663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96449"/>
                </a:solidFill>
              </a:rPr>
              <a:t>Hard guardrail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8092440" y="514807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F6B7A"/>
                </a:solidFill>
              </a:rPr>
              <a:t>cache will not treat as source of truth,   it will not used for command acceptance, validation, lifecycle, result, cancellation, retrial, security or audit. </a:t>
            </a:r>
            <a:endParaRPr lang="en-US" sz="880" dirty="0"/>
          </a:p>
        </p:txBody>
      </p:sp>
      <p:sp>
        <p:nvSpPr>
          <p:cNvPr id="30" name="Shape 27"/>
          <p:cNvSpPr/>
          <p:nvPr/>
        </p:nvSpPr>
        <p:spPr>
          <a:xfrm>
            <a:off x="3658" y="6473952"/>
            <a:ext cx="2020976" cy="109728"/>
          </a:xfrm>
          <a:prstGeom prst="rect">
            <a:avLst/>
          </a:prstGeom>
          <a:solidFill>
            <a:srgbClr val="0D54FF"/>
          </a:solidFill>
          <a:ln w="12700">
            <a:solidFill>
              <a:srgbClr val="0D5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2035607" y="6473952"/>
            <a:ext cx="2020976" cy="109728"/>
          </a:xfrm>
          <a:prstGeom prst="rect">
            <a:avLst/>
          </a:prstGeom>
          <a:solidFill>
            <a:srgbClr val="F96449"/>
          </a:solidFill>
          <a:ln w="12700">
            <a:solidFill>
              <a:srgbClr val="F964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067556" y="6473952"/>
            <a:ext cx="2020976" cy="109728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099505" y="6473952"/>
            <a:ext cx="2020976" cy="109728"/>
          </a:xfrm>
          <a:prstGeom prst="rect">
            <a:avLst/>
          </a:prstGeom>
          <a:solidFill>
            <a:srgbClr val="6C3BFF"/>
          </a:solidFill>
          <a:ln w="12700">
            <a:solidFill>
              <a:srgbClr val="6C3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8131454" y="6473952"/>
            <a:ext cx="2020976" cy="109728"/>
          </a:xfrm>
          <a:prstGeom prst="rect">
            <a:avLst/>
          </a:prstGeom>
          <a:solidFill>
            <a:srgbClr val="19B66A"/>
          </a:solidFill>
          <a:ln w="12700">
            <a:solidFill>
              <a:srgbClr val="19B6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10163404" y="6473952"/>
            <a:ext cx="2020976" cy="109728"/>
          </a:xfrm>
          <a:prstGeom prst="rect">
            <a:avLst/>
          </a:prstGeom>
          <a:solidFill>
            <a:srgbClr val="E72C83"/>
          </a:solidFill>
          <a:ln w="12700">
            <a:solidFill>
              <a:srgbClr val="E72C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11480" y="660196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Optimisation platform · software architecture baseline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017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D54FF"/>
                </a:solidFill>
                <a:latin typeface="Aptos" pitchFamily="34" charset="0"/>
              </a:rPr>
              <a:t>IDENTITY FLOW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access governance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881360" y="228600"/>
            <a:ext cx="969264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9ED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telst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3693" y="283464"/>
            <a:ext cx="431447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14300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400">
                <a:solidFill>
                  <a:srgbClr val="282828"/>
                </a:solidFill>
              </a:rPr>
              <a:t>The OEX experience layer is governed by ASG approval and Microsoft Entra ID; backend services still enforce their own rules.</a:t>
            </a:r>
          </a:p>
        </p:txBody>
      </p:sp>
      <p:sp>
        <p:nvSpPr>
          <p:cNvPr id="7" name="Shape 4"/>
          <p:cNvSpPr/>
          <p:nvPr/>
        </p:nvSpPr>
        <p:spPr>
          <a:xfrm>
            <a:off x="1554480" y="3063240"/>
            <a:ext cx="530352" cy="0"/>
          </a:xfrm>
          <a:prstGeom prst="line">
            <a:avLst/>
          </a:prstGeom>
          <a:noFill/>
          <a:ln w="15240">
            <a:solidFill>
              <a:srgbClr val="131A3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227832" y="3063240"/>
            <a:ext cx="530352" cy="0"/>
          </a:xfrm>
          <a:prstGeom prst="line">
            <a:avLst/>
          </a:prstGeom>
          <a:noFill/>
          <a:ln w="15240">
            <a:solidFill>
              <a:srgbClr val="19B66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901184" y="3063240"/>
            <a:ext cx="530352" cy="0"/>
          </a:xfrm>
          <a:prstGeom prst="line">
            <a:avLst/>
          </a:prstGeom>
          <a:noFill/>
          <a:ln w="15240">
            <a:solidFill>
              <a:srgbClr val="0D54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74536" y="3063240"/>
            <a:ext cx="530352" cy="0"/>
          </a:xfrm>
          <a:prstGeom prst="line">
            <a:avLst/>
          </a:prstGeom>
          <a:noFill/>
          <a:ln w="15240">
            <a:solidFill>
              <a:srgbClr val="6C3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247888" y="3063240"/>
            <a:ext cx="530352" cy="0"/>
          </a:xfrm>
          <a:prstGeom prst="line">
            <a:avLst/>
          </a:prstGeom>
          <a:noFill/>
          <a:ln w="15240">
            <a:solidFill>
              <a:srgbClr val="16C7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921240" y="3063240"/>
            <a:ext cx="530352" cy="0"/>
          </a:xfrm>
          <a:prstGeom prst="line">
            <a:avLst/>
          </a:prstGeom>
          <a:noFill/>
          <a:ln w="15240">
            <a:solidFill>
              <a:srgbClr val="F9644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02920" y="2331720"/>
            <a:ext cx="1234440" cy="1417320"/>
          </a:xfrm>
          <a:prstGeom prst="roundRect">
            <a:avLst>
              <a:gd name="adj" fmla="val 7407"/>
            </a:avLst>
          </a:prstGeom>
          <a:solidFill>
            <a:srgbClr val="F7F9FC"/>
          </a:solidFill>
          <a:ln w="12700">
            <a:solidFill>
              <a:srgbClr val="131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76072" y="2542032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31A35"/>
                </a:solidFill>
              </a:rPr>
              <a:t>User</a:t>
            </a:r>
            <a:endParaRPr lang="en-US" sz="1220" dirty="0"/>
          </a:p>
        </p:txBody>
      </p:sp>
      <p:sp>
        <p:nvSpPr>
          <p:cNvPr id="15" name="Text 12"/>
          <p:cNvSpPr/>
          <p:nvPr/>
        </p:nvSpPr>
        <p:spPr>
          <a:xfrm>
            <a:off x="576072" y="3017520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F6B7A"/>
                </a:solidFill>
              </a:rPr>
              <a:t>operator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176272" y="2331720"/>
            <a:ext cx="1234440" cy="1417320"/>
          </a:xfrm>
          <a:prstGeom prst="roundRect">
            <a:avLst>
              <a:gd name="adj" fmla="val 7407"/>
            </a:avLst>
          </a:prstGeom>
          <a:solidFill>
            <a:srgbClr val="F7F9FC"/>
          </a:solidFill>
          <a:ln w="12700">
            <a:solidFill>
              <a:srgbClr val="19B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249424" y="2542032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9B66A"/>
                </a:solidFill>
              </a:rPr>
              <a:t>ASG</a:t>
            </a:r>
            <a:endParaRPr lang="en-US" sz="1220" dirty="0"/>
          </a:p>
        </p:txBody>
      </p:sp>
      <p:sp>
        <p:nvSpPr>
          <p:cNvPr id="18" name="Text 15"/>
          <p:cNvSpPr/>
          <p:nvPr/>
        </p:nvSpPr>
        <p:spPr>
          <a:xfrm>
            <a:off x="2249424" y="3017520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F6B7A"/>
                </a:solidFill>
              </a:rPr>
              <a:t>approval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849624" y="2331720"/>
            <a:ext cx="1234440" cy="1417320"/>
          </a:xfrm>
          <a:prstGeom prst="roundRect">
            <a:avLst>
              <a:gd name="adj" fmla="val 7407"/>
            </a:avLst>
          </a:prstGeom>
          <a:solidFill>
            <a:srgbClr val="F7F9FC"/>
          </a:solidFill>
          <a:ln w="12700">
            <a:solidFill>
              <a:srgbClr val="0D5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922776" y="2542032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54FF"/>
                </a:solidFill>
              </a:rPr>
              <a:t>Microsoft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54FF"/>
                </a:solidFill>
              </a:rPr>
              <a:t>Entra ID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922776" y="3017520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F6B7A"/>
                </a:solidFill>
              </a:rPr>
              <a:t>SSO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522976" y="2331720"/>
            <a:ext cx="1234440" cy="1417320"/>
          </a:xfrm>
          <a:prstGeom prst="roundRect">
            <a:avLst>
              <a:gd name="adj" fmla="val 7407"/>
            </a:avLst>
          </a:prstGeom>
          <a:solidFill>
            <a:srgbClr val="F7F9FC"/>
          </a:solidFill>
          <a:ln w="12700">
            <a:solidFill>
              <a:srgbClr val="6C3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596128" y="2542032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6C3BFF"/>
                </a:solidFill>
              </a:rPr>
              <a:t>OGW</a:t>
            </a:r>
            <a:endParaRPr lang="en-US" sz="1220" dirty="0"/>
          </a:p>
        </p:txBody>
      </p:sp>
      <p:sp>
        <p:nvSpPr>
          <p:cNvPr id="24" name="Text 21"/>
          <p:cNvSpPr/>
          <p:nvPr/>
        </p:nvSpPr>
        <p:spPr>
          <a:xfrm>
            <a:off x="5596128" y="3017520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F6B7A"/>
                </a:solidFill>
              </a:rPr>
              <a:t>user-context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F6B7A"/>
                </a:solidFill>
              </a:rPr>
              <a:t>gateway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196328" y="2331720"/>
            <a:ext cx="1234440" cy="1417320"/>
          </a:xfrm>
          <a:prstGeom prst="roundRect">
            <a:avLst>
              <a:gd name="adj" fmla="val 7407"/>
            </a:avLst>
          </a:prstGeom>
          <a:solidFill>
            <a:srgbClr val="F7F9FC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269480" y="2542032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6C7E8"/>
                </a:solidFill>
              </a:rPr>
              <a:t>Screen Builder MS</a:t>
            </a:r>
            <a:endParaRPr lang="en-US" sz="1220" dirty="0"/>
          </a:p>
        </p:txBody>
      </p:sp>
      <p:sp>
        <p:nvSpPr>
          <p:cNvPr id="27" name="Text 24"/>
          <p:cNvSpPr/>
          <p:nvPr/>
        </p:nvSpPr>
        <p:spPr>
          <a:xfrm>
            <a:off x="7269480" y="3017520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F6B7A"/>
                </a:solidFill>
              </a:rPr>
              <a:t>Screen Builder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F6B7A"/>
                </a:solidFill>
              </a:rPr>
              <a:t>User Context JWT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869680" y="2331720"/>
            <a:ext cx="1234440" cy="1417320"/>
          </a:xfrm>
          <a:prstGeom prst="roundRect">
            <a:avLst>
              <a:gd name="adj" fmla="val 7407"/>
            </a:avLst>
          </a:prstGeom>
          <a:solidFill>
            <a:srgbClr val="F6F6F6"/>
          </a:solidFill>
          <a:ln w="12700">
            <a:solidFill>
              <a:srgbClr val="F96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942832" y="2542032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96449"/>
                </a:solidFill>
              </a:rPr>
              <a:t>NGW</a:t>
            </a:r>
            <a:endParaRPr lang="en-US" sz="1220" dirty="0"/>
          </a:p>
        </p:txBody>
      </p:sp>
      <p:sp>
        <p:nvSpPr>
          <p:cNvPr id="30" name="Text 27"/>
          <p:cNvSpPr/>
          <p:nvPr/>
        </p:nvSpPr>
        <p:spPr>
          <a:xfrm>
            <a:off x="8942832" y="3017520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F6B7A"/>
                </a:solidFill>
              </a:rPr>
              <a:t>service-to-service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0543032" y="2331720"/>
            <a:ext cx="1234440" cy="1417320"/>
          </a:xfrm>
          <a:prstGeom prst="roundRect">
            <a:avLst>
              <a:gd name="adj" fmla="val 7407"/>
            </a:avLst>
          </a:prstGeom>
          <a:solidFill>
            <a:srgbClr val="F6F6F6"/>
          </a:solidFill>
          <a:ln w="12700">
            <a:solidFill>
              <a:srgbClr val="131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10616184" y="2542032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31A35"/>
                </a:solidFill>
              </a:rPr>
              <a:t>Definition and Controller</a:t>
            </a:r>
            <a:endParaRPr lang="en-US" sz="1220" dirty="0"/>
          </a:p>
        </p:txBody>
      </p:sp>
      <p:sp>
        <p:nvSpPr>
          <p:cNvPr id="33" name="Text 30"/>
          <p:cNvSpPr/>
          <p:nvPr/>
        </p:nvSpPr>
        <p:spPr>
          <a:xfrm>
            <a:off x="10616184" y="3017520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F6B7A"/>
                </a:solidFill>
              </a:rPr>
              <a:t>Definition + Controller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F6B7A"/>
                </a:solidFill>
              </a:rPr>
              <a:t>service identity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492240" y="418795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96449"/>
                </a:solidFill>
              </a:rPr>
              <a:t>User context stops before NGW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1051560" y="4800600"/>
            <a:ext cx="10058400" cy="914400"/>
          </a:xfrm>
          <a:prstGeom prst="roundRect">
            <a:avLst>
              <a:gd name="adj" fmla="val 12000"/>
            </a:avLst>
          </a:prstGeom>
          <a:solidFill>
            <a:srgbClr val="131A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1417320" y="4956048"/>
            <a:ext cx="9418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r>
              <a:rPr sz="1200" b="0">
                <a:solidFill>
                  <a:srgbClr val="FFFFFF"/>
                </a:solidFill>
              </a:rPr>
              <a:t>OEX layer uses user context for view and action shaping.</a:t>
            </a:r>
          </a:p>
          <a:p>
            <a:r>
              <a:rPr sz="1200" b="0">
                <a:solidFill>
                  <a:srgbClr val="FFFFFF"/>
                </a:solidFill>
              </a:rPr>
              <a:t>Backend Definition and Controller services use service identity and enforce lifecycle, schema, ETag and authorisation.</a:t>
            </a:r>
          </a:p>
          <a:p>
            <a:r>
              <a:rPr sz="1200" b="0">
                <a:solidFill>
                  <a:srgbClr val="FFFFFF"/>
                </a:solidFill>
              </a:rPr>
              <a:t>Backend decision wins over cached UI visibility or stale action state.</a:t>
            </a:r>
          </a:p>
        </p:txBody>
      </p:sp>
      <p:sp>
        <p:nvSpPr>
          <p:cNvPr id="37" name="Shape 34"/>
          <p:cNvSpPr/>
          <p:nvPr/>
        </p:nvSpPr>
        <p:spPr>
          <a:xfrm>
            <a:off x="3658" y="6473952"/>
            <a:ext cx="2020976" cy="109728"/>
          </a:xfrm>
          <a:prstGeom prst="rect">
            <a:avLst/>
          </a:prstGeom>
          <a:solidFill>
            <a:srgbClr val="0D54FF"/>
          </a:solidFill>
          <a:ln w="12700">
            <a:solidFill>
              <a:srgbClr val="0D5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2035607" y="6473952"/>
            <a:ext cx="2020976" cy="109728"/>
          </a:xfrm>
          <a:prstGeom prst="rect">
            <a:avLst/>
          </a:prstGeom>
          <a:solidFill>
            <a:srgbClr val="F96449"/>
          </a:solidFill>
          <a:ln w="12700">
            <a:solidFill>
              <a:srgbClr val="F964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4067556" y="6473952"/>
            <a:ext cx="2020976" cy="109728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6099505" y="6473952"/>
            <a:ext cx="2020976" cy="109728"/>
          </a:xfrm>
          <a:prstGeom prst="rect">
            <a:avLst/>
          </a:prstGeom>
          <a:solidFill>
            <a:srgbClr val="6C3BFF"/>
          </a:solidFill>
          <a:ln w="12700">
            <a:solidFill>
              <a:srgbClr val="6C3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8131454" y="6473952"/>
            <a:ext cx="2020976" cy="109728"/>
          </a:xfrm>
          <a:prstGeom prst="rect">
            <a:avLst/>
          </a:prstGeom>
          <a:solidFill>
            <a:srgbClr val="19B66A"/>
          </a:solidFill>
          <a:ln w="12700">
            <a:solidFill>
              <a:srgbClr val="19B6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10163404" y="6473952"/>
            <a:ext cx="2020976" cy="109728"/>
          </a:xfrm>
          <a:prstGeom prst="rect">
            <a:avLst/>
          </a:prstGeom>
          <a:solidFill>
            <a:srgbClr val="E72C83"/>
          </a:solidFill>
          <a:ln w="12700">
            <a:solidFill>
              <a:srgbClr val="E72C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411480" y="660196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Optimisation platform · software architecture baseline</a:t>
            </a:r>
            <a:endParaRPr lang="en-US" sz="750" dirty="0"/>
          </a:p>
        </p:txBody>
      </p:sp>
      <p:sp>
        <p:nvSpPr>
          <p:cNvPr id="44" name="Rounded Rectangle 43"/>
          <p:cNvSpPr/>
          <p:nvPr/>
        </p:nvSpPr>
        <p:spPr>
          <a:xfrm>
            <a:off x="5321808" y="1993392"/>
            <a:ext cx="3246120" cy="347472"/>
          </a:xfrm>
          <a:prstGeom prst="roundRect">
            <a:avLst/>
          </a:prstGeom>
          <a:solidFill>
            <a:srgbClr val="E6F5FF"/>
          </a:solidFill>
          <a:ln w="15875">
            <a:solidFill>
              <a:srgbClr val="0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18288" rtlCol="0" anchor="ctr"/>
          <a:lstStyle/>
          <a:p>
            <a:pPr algn="ctr"/>
            <a:r>
              <a:rPr sz="980" b="1">
                <a:solidFill>
                  <a:srgbClr val="004678"/>
                </a:solidFill>
              </a:rPr>
              <a:t>OEX experience layer  ·  UI, OGW and Screen Builder 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3D953B-1CFA-2C16-770F-60627634F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E9EF973-F788-93DE-A6BF-5BD121721EFA}"/>
              </a:ext>
            </a:extLst>
          </p:cNvPr>
          <p:cNvSpPr/>
          <p:nvPr/>
        </p:nvSpPr>
        <p:spPr>
          <a:xfrm>
            <a:off x="502920" y="274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1200" b="1" dirty="0">
                <a:solidFill>
                  <a:srgbClr val="0D54FF"/>
                </a:solidFill>
                <a:latin typeface="Aptos" pitchFamily="34" charset="0"/>
              </a:rPr>
              <a:t>EVENT</a:t>
            </a:r>
            <a:r>
              <a:rPr lang="en-AU" sz="850" b="1" dirty="0">
                <a:solidFill>
                  <a:srgbClr val="0D54FF"/>
                </a:solidFill>
                <a:latin typeface="Aptos" pitchFamily="34" charset="0"/>
              </a:rPr>
              <a:t> </a:t>
            </a:r>
            <a:r>
              <a:rPr lang="en-AU" sz="1200" b="1" dirty="0">
                <a:solidFill>
                  <a:srgbClr val="0D54FF"/>
                </a:solidFill>
                <a:latin typeface="Aptos" pitchFamily="34" charset="0"/>
              </a:rPr>
              <a:t>MODEL</a:t>
            </a:r>
            <a:r>
              <a:rPr lang="en-AU" sz="850" b="1" dirty="0">
                <a:solidFill>
                  <a:srgbClr val="0D54FF"/>
                </a:solidFill>
                <a:latin typeface="Aptos" pitchFamily="34" charset="0"/>
              </a:rPr>
              <a:t> </a:t>
            </a:r>
            <a:endParaRPr lang="en-US" sz="850" b="1" dirty="0">
              <a:solidFill>
                <a:srgbClr val="0D54FF"/>
              </a:solidFill>
              <a:latin typeface="Aptos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A206EA9-1DF2-2012-9E9B-AE2CD3B57D38}"/>
              </a:ext>
            </a:extLst>
          </p:cNvPr>
          <p:cNvSpPr/>
          <p:nvPr/>
        </p:nvSpPr>
        <p:spPr>
          <a:xfrm>
            <a:off x="10881360" y="228600"/>
            <a:ext cx="969264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9ED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telstra_logo.png">
            <a:extLst>
              <a:ext uri="{FF2B5EF4-FFF2-40B4-BE49-F238E27FC236}">
                <a16:creationId xmlns:a16="http://schemas.microsoft.com/office/drawing/2014/main" id="{1EDC114B-B3A3-A265-13B7-28384762F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3693" y="283464"/>
            <a:ext cx="431447" cy="493776"/>
          </a:xfrm>
          <a:prstGeom prst="rect">
            <a:avLst/>
          </a:prstGeom>
        </p:spPr>
      </p:pic>
      <p:sp>
        <p:nvSpPr>
          <p:cNvPr id="37" name="Shape 34">
            <a:extLst>
              <a:ext uri="{FF2B5EF4-FFF2-40B4-BE49-F238E27FC236}">
                <a16:creationId xmlns:a16="http://schemas.microsoft.com/office/drawing/2014/main" id="{F15467F8-4C99-FD47-C9B2-22234F8DAF0C}"/>
              </a:ext>
            </a:extLst>
          </p:cNvPr>
          <p:cNvSpPr/>
          <p:nvPr/>
        </p:nvSpPr>
        <p:spPr>
          <a:xfrm>
            <a:off x="3658" y="6473952"/>
            <a:ext cx="2020976" cy="109728"/>
          </a:xfrm>
          <a:prstGeom prst="rect">
            <a:avLst/>
          </a:prstGeom>
          <a:solidFill>
            <a:srgbClr val="0D54FF"/>
          </a:solidFill>
          <a:ln w="12700">
            <a:solidFill>
              <a:srgbClr val="0D5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A5912B89-7769-AF0E-8C82-EC087BD999DC}"/>
              </a:ext>
            </a:extLst>
          </p:cNvPr>
          <p:cNvSpPr/>
          <p:nvPr/>
        </p:nvSpPr>
        <p:spPr>
          <a:xfrm>
            <a:off x="2035607" y="6473952"/>
            <a:ext cx="2020976" cy="109728"/>
          </a:xfrm>
          <a:prstGeom prst="rect">
            <a:avLst/>
          </a:prstGeom>
          <a:solidFill>
            <a:srgbClr val="F96449"/>
          </a:solidFill>
          <a:ln w="12700">
            <a:solidFill>
              <a:srgbClr val="F964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6293F295-511E-288E-36ED-BE9D832DFEC3}"/>
              </a:ext>
            </a:extLst>
          </p:cNvPr>
          <p:cNvSpPr/>
          <p:nvPr/>
        </p:nvSpPr>
        <p:spPr>
          <a:xfrm>
            <a:off x="4067556" y="6473952"/>
            <a:ext cx="2020976" cy="109728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75F2EBAA-EAB9-F70F-A4BD-A41A5C28DE78}"/>
              </a:ext>
            </a:extLst>
          </p:cNvPr>
          <p:cNvSpPr/>
          <p:nvPr/>
        </p:nvSpPr>
        <p:spPr>
          <a:xfrm>
            <a:off x="6099505" y="6473952"/>
            <a:ext cx="2020976" cy="109728"/>
          </a:xfrm>
          <a:prstGeom prst="rect">
            <a:avLst/>
          </a:prstGeom>
          <a:solidFill>
            <a:srgbClr val="6C3BFF"/>
          </a:solidFill>
          <a:ln w="12700">
            <a:solidFill>
              <a:srgbClr val="6C3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>
            <a:extLst>
              <a:ext uri="{FF2B5EF4-FFF2-40B4-BE49-F238E27FC236}">
                <a16:creationId xmlns:a16="http://schemas.microsoft.com/office/drawing/2014/main" id="{011A01DE-CD22-2D2D-E95B-6447EDC9D91A}"/>
              </a:ext>
            </a:extLst>
          </p:cNvPr>
          <p:cNvSpPr/>
          <p:nvPr/>
        </p:nvSpPr>
        <p:spPr>
          <a:xfrm>
            <a:off x="8131454" y="6473952"/>
            <a:ext cx="2020976" cy="109728"/>
          </a:xfrm>
          <a:prstGeom prst="rect">
            <a:avLst/>
          </a:prstGeom>
          <a:solidFill>
            <a:srgbClr val="19B66A"/>
          </a:solidFill>
          <a:ln w="12700">
            <a:solidFill>
              <a:srgbClr val="19B6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06B24E92-5D90-8459-D2FE-9FD7F31A6276}"/>
              </a:ext>
            </a:extLst>
          </p:cNvPr>
          <p:cNvSpPr/>
          <p:nvPr/>
        </p:nvSpPr>
        <p:spPr>
          <a:xfrm>
            <a:off x="10163404" y="6473952"/>
            <a:ext cx="2020976" cy="109728"/>
          </a:xfrm>
          <a:prstGeom prst="rect">
            <a:avLst/>
          </a:prstGeom>
          <a:solidFill>
            <a:srgbClr val="E72C83"/>
          </a:solidFill>
          <a:ln w="12700">
            <a:solidFill>
              <a:srgbClr val="E72C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36D6CBB9-F9C2-7DBC-859C-983CE2B71778}"/>
              </a:ext>
            </a:extLst>
          </p:cNvPr>
          <p:cNvSpPr/>
          <p:nvPr/>
        </p:nvSpPr>
        <p:spPr>
          <a:xfrm>
            <a:off x="411480" y="660196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Optimisation platform · software architecture baseline</a:t>
            </a:r>
            <a:endParaRPr lang="en-US" sz="75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37907AA-967D-1920-C481-D8D8058809F4}"/>
              </a:ext>
            </a:extLst>
          </p:cNvPr>
          <p:cNvSpPr txBox="1"/>
          <p:nvPr/>
        </p:nvSpPr>
        <p:spPr>
          <a:xfrm>
            <a:off x="534093" y="814644"/>
            <a:ext cx="950976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14233E"/>
                </a:solidFill>
                <a:latin typeface="Arial"/>
              </a:rPr>
              <a:t>Two internal events, one external notification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245458B-A1E1-DC94-0A6C-53500ED27DFE}"/>
              </a:ext>
            </a:extLst>
          </p:cNvPr>
          <p:cNvSpPr txBox="1"/>
          <p:nvPr/>
        </p:nvSpPr>
        <p:spPr>
          <a:xfrm>
            <a:off x="534093" y="1253556"/>
            <a:ext cx="97840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200" b="0">
                <a:solidFill>
                  <a:srgbClr val="677384"/>
                </a:solidFill>
                <a:latin typeface="Arial"/>
              </a:rPr>
              <a:t>Worker events execute work. Controller projection remains the source of truth. Webhooks only notify subscribers.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8B9D1372-EBAB-5AEC-9549-5C1F1F7DE06B}"/>
              </a:ext>
            </a:extLst>
          </p:cNvPr>
          <p:cNvSpPr/>
          <p:nvPr/>
        </p:nvSpPr>
        <p:spPr>
          <a:xfrm>
            <a:off x="671253" y="1866204"/>
            <a:ext cx="31546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42688123-AE29-6BC5-40E3-AC099E474ED1}"/>
              </a:ext>
            </a:extLst>
          </p:cNvPr>
          <p:cNvSpPr/>
          <p:nvPr/>
        </p:nvSpPr>
        <p:spPr>
          <a:xfrm>
            <a:off x="671253" y="1866204"/>
            <a:ext cx="3154680" cy="411480"/>
          </a:xfrm>
          <a:prstGeom prst="roundRect">
            <a:avLst/>
          </a:prstGeom>
          <a:solidFill>
            <a:srgbClr val="005BBB"/>
          </a:solidFill>
          <a:ln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A50A9AB-11D8-FC1A-F507-8397D9E474B6}"/>
              </a:ext>
            </a:extLst>
          </p:cNvPr>
          <p:cNvSpPr txBox="1"/>
          <p:nvPr/>
        </p:nvSpPr>
        <p:spPr>
          <a:xfrm>
            <a:off x="762692" y="1957644"/>
            <a:ext cx="29718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OptimisationRequestedEvent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9E53894-704B-7E49-5BEF-14676D7A5A36}"/>
              </a:ext>
            </a:extLst>
          </p:cNvPr>
          <p:cNvSpPr txBox="1"/>
          <p:nvPr/>
        </p:nvSpPr>
        <p:spPr>
          <a:xfrm>
            <a:off x="808413" y="2433132"/>
            <a:ext cx="28803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100" b="1">
                <a:solidFill>
                  <a:srgbClr val="005BBB"/>
                </a:solidFill>
                <a:latin typeface="Arial"/>
              </a:rPr>
              <a:t>Controller → Kafka → Worker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89E2CD3-2E92-611E-1018-3DC951A7190A}"/>
              </a:ext>
            </a:extLst>
          </p:cNvPr>
          <p:cNvSpPr txBox="1"/>
          <p:nvPr/>
        </p:nvSpPr>
        <p:spPr>
          <a:xfrm>
            <a:off x="927285" y="2808036"/>
            <a:ext cx="2642616" cy="88696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19">
                <a:solidFill>
                  <a:srgbClr val="242E42"/>
                </a:solidFill>
                <a:latin typeface="Arial"/>
              </a:rPr>
              <a:t>• Instruction: EXECUTE or CANCEL</a:t>
            </a:r>
          </a:p>
          <a:p>
            <a:pPr algn="l">
              <a:spcAft>
                <a:spcPts val="200"/>
              </a:spcAft>
            </a:pPr>
            <a:r>
              <a:rPr sz="919">
                <a:solidFill>
                  <a:srgbClr val="242E42"/>
                </a:solidFill>
                <a:latin typeface="Arial"/>
              </a:rPr>
              <a:t>• Outbox-backed publication</a:t>
            </a:r>
          </a:p>
          <a:p>
            <a:pPr algn="l">
              <a:spcAft>
                <a:spcPts val="200"/>
              </a:spcAft>
            </a:pPr>
            <a:r>
              <a:rPr sz="919">
                <a:solidFill>
                  <a:srgbClr val="242E42"/>
                </a:solidFill>
                <a:latin typeface="Arial"/>
              </a:rPr>
              <a:t>• Worker consumes from topic</a:t>
            </a: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86584567-9B24-B3AE-CEC3-003BF3DD0BB9}"/>
              </a:ext>
            </a:extLst>
          </p:cNvPr>
          <p:cNvSpPr/>
          <p:nvPr/>
        </p:nvSpPr>
        <p:spPr>
          <a:xfrm>
            <a:off x="4100253" y="1866204"/>
            <a:ext cx="31546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96934845-F0CA-C3B8-85EE-B1E68E2508E2}"/>
              </a:ext>
            </a:extLst>
          </p:cNvPr>
          <p:cNvSpPr/>
          <p:nvPr/>
        </p:nvSpPr>
        <p:spPr>
          <a:xfrm>
            <a:off x="4100253" y="1866204"/>
            <a:ext cx="3154680" cy="411480"/>
          </a:xfrm>
          <a:prstGeom prst="roundRect">
            <a:avLst/>
          </a:prstGeom>
          <a:solidFill>
            <a:srgbClr val="008C79"/>
          </a:solidFill>
          <a:ln>
            <a:solidFill>
              <a:srgbClr val="008C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76523F0-FA51-B71F-8668-5E70C2FDE212}"/>
              </a:ext>
            </a:extLst>
          </p:cNvPr>
          <p:cNvSpPr txBox="1"/>
          <p:nvPr/>
        </p:nvSpPr>
        <p:spPr>
          <a:xfrm>
            <a:off x="4191693" y="1957644"/>
            <a:ext cx="29718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OptimisationCompletedEvent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574B3B2-C743-03A6-00F4-2A26E2794D4B}"/>
              </a:ext>
            </a:extLst>
          </p:cNvPr>
          <p:cNvSpPr txBox="1"/>
          <p:nvPr/>
        </p:nvSpPr>
        <p:spPr>
          <a:xfrm>
            <a:off x="4237413" y="2433132"/>
            <a:ext cx="28803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100" b="1">
                <a:solidFill>
                  <a:srgbClr val="008C79"/>
                </a:solidFill>
                <a:latin typeface="Arial"/>
              </a:rPr>
              <a:t>Worker → Kafka → Controller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D1E57C1-F28F-1B98-3CD5-54F0311136A1}"/>
              </a:ext>
            </a:extLst>
          </p:cNvPr>
          <p:cNvSpPr txBox="1"/>
          <p:nvPr/>
        </p:nvSpPr>
        <p:spPr>
          <a:xfrm>
            <a:off x="4356285" y="2808036"/>
            <a:ext cx="2642616" cy="88696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19">
                <a:solidFill>
                  <a:srgbClr val="242E42"/>
                </a:solidFill>
                <a:latin typeface="Arial"/>
              </a:rPr>
              <a:t>• Execution or cancellation outcome</a:t>
            </a:r>
          </a:p>
          <a:p>
            <a:pPr algn="l">
              <a:spcAft>
                <a:spcPts val="200"/>
              </a:spcAft>
            </a:pPr>
            <a:r>
              <a:rPr sz="919">
                <a:solidFill>
                  <a:srgbClr val="242E42"/>
                </a:solidFill>
                <a:latin typeface="Arial"/>
              </a:rPr>
              <a:t>• Controller inbox projects state</a:t>
            </a:r>
          </a:p>
          <a:p>
            <a:pPr algn="l">
              <a:spcAft>
                <a:spcPts val="200"/>
              </a:spcAft>
            </a:pPr>
            <a:r>
              <a:rPr sz="919">
                <a:solidFill>
                  <a:srgbClr val="242E42"/>
                </a:solidFill>
                <a:latin typeface="Arial"/>
              </a:rPr>
              <a:t>• Idempotent duplicate handling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28A53C46-6A46-A4C9-FBC3-AB98D65083E3}"/>
              </a:ext>
            </a:extLst>
          </p:cNvPr>
          <p:cNvSpPr/>
          <p:nvPr/>
        </p:nvSpPr>
        <p:spPr>
          <a:xfrm>
            <a:off x="7529252" y="1866204"/>
            <a:ext cx="31546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59C68115-7690-03AD-08AD-EFD928841D32}"/>
              </a:ext>
            </a:extLst>
          </p:cNvPr>
          <p:cNvSpPr/>
          <p:nvPr/>
        </p:nvSpPr>
        <p:spPr>
          <a:xfrm>
            <a:off x="7529252" y="1866204"/>
            <a:ext cx="3154680" cy="411480"/>
          </a:xfrm>
          <a:prstGeom prst="roundRect">
            <a:avLst/>
          </a:prstGeom>
          <a:solidFill>
            <a:srgbClr val="7437B4"/>
          </a:solidFill>
          <a:ln>
            <a:solidFill>
              <a:srgbClr val="743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6E50E65-71AC-9EA6-42AB-B42CCDA216B3}"/>
              </a:ext>
            </a:extLst>
          </p:cNvPr>
          <p:cNvSpPr txBox="1"/>
          <p:nvPr/>
        </p:nvSpPr>
        <p:spPr>
          <a:xfrm>
            <a:off x="7620692" y="1957644"/>
            <a:ext cx="29718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OptimisationStatusChangeEvent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12EE334-000C-0FD4-1490-DC34CFED7D49}"/>
              </a:ext>
            </a:extLst>
          </p:cNvPr>
          <p:cNvSpPr txBox="1"/>
          <p:nvPr/>
        </p:nvSpPr>
        <p:spPr>
          <a:xfrm>
            <a:off x="7666413" y="2433132"/>
            <a:ext cx="28803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100" b="1">
                <a:solidFill>
                  <a:srgbClr val="7437B4"/>
                </a:solidFill>
                <a:latin typeface="Arial"/>
              </a:rPr>
              <a:t>Controller → hub → Subscriber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F3555DB-1323-5DF0-40DE-017421702672}"/>
              </a:ext>
            </a:extLst>
          </p:cNvPr>
          <p:cNvSpPr txBox="1"/>
          <p:nvPr/>
        </p:nvSpPr>
        <p:spPr>
          <a:xfrm>
            <a:off x="7785284" y="2808036"/>
            <a:ext cx="2642616" cy="88696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19">
                <a:solidFill>
                  <a:srgbClr val="242E42"/>
                </a:solidFill>
                <a:latin typeface="Arial"/>
              </a:rPr>
              <a:t>• After persisted projection</a:t>
            </a:r>
          </a:p>
          <a:p>
            <a:pPr algn="l">
              <a:spcAft>
                <a:spcPts val="200"/>
              </a:spcAft>
            </a:pPr>
            <a:r>
              <a:rPr sz="919">
                <a:solidFill>
                  <a:srgbClr val="242E42"/>
                </a:solidFill>
                <a:latin typeface="Arial"/>
              </a:rPr>
              <a:t>• Notification only</a:t>
            </a:r>
          </a:p>
          <a:p>
            <a:pPr algn="l">
              <a:spcAft>
                <a:spcPts val="200"/>
              </a:spcAft>
            </a:pPr>
            <a:r>
              <a:rPr sz="919">
                <a:solidFill>
                  <a:srgbClr val="242E42"/>
                </a:solidFill>
                <a:latin typeface="Arial"/>
              </a:rPr>
              <a:t>• GET remains authoritative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E7721454-B658-D15A-8504-73ABBB67BC3B}"/>
              </a:ext>
            </a:extLst>
          </p:cNvPr>
          <p:cNvSpPr/>
          <p:nvPr/>
        </p:nvSpPr>
        <p:spPr>
          <a:xfrm>
            <a:off x="689541" y="3996756"/>
            <a:ext cx="10012680" cy="475488"/>
          </a:xfrm>
          <a:prstGeom prst="roundRect">
            <a:avLst/>
          </a:prstGeom>
          <a:solidFill>
            <a:srgbClr val="F8FAFE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7BA09EE-1E70-6B6B-439E-AD26430DED60}"/>
              </a:ext>
            </a:extLst>
          </p:cNvPr>
          <p:cNvSpPr txBox="1"/>
          <p:nvPr/>
        </p:nvSpPr>
        <p:spPr>
          <a:xfrm>
            <a:off x="899853" y="4124772"/>
            <a:ext cx="9601200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220" b="1">
                <a:solidFill>
                  <a:srgbClr val="14233E"/>
                </a:solidFill>
                <a:latin typeface="Arial"/>
              </a:rPr>
              <a:t>Source of truth: Controller persists lifecycle and result. GET /optimisation/{id} remains authoritative.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B06A06C-2C9D-2A32-ABFA-9F777DBA2D1D}"/>
              </a:ext>
            </a:extLst>
          </p:cNvPr>
          <p:cNvSpPr txBox="1"/>
          <p:nvPr/>
        </p:nvSpPr>
        <p:spPr>
          <a:xfrm>
            <a:off x="671253" y="4746564"/>
            <a:ext cx="22860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00" b="1">
                <a:solidFill>
                  <a:srgbClr val="005BBB"/>
                </a:solidFill>
                <a:latin typeface="Arial"/>
              </a:rPr>
              <a:t>Lifecycle in one line</a:t>
            </a: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969D93E8-48D5-05FE-FCEC-E7D9BA5D9E65}"/>
              </a:ext>
            </a:extLst>
          </p:cNvPr>
          <p:cNvSpPr/>
          <p:nvPr/>
        </p:nvSpPr>
        <p:spPr>
          <a:xfrm>
            <a:off x="689541" y="5075748"/>
            <a:ext cx="4800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5877998-CEA7-355E-A642-C5877AC6AE10}"/>
              </a:ext>
            </a:extLst>
          </p:cNvPr>
          <p:cNvSpPr txBox="1"/>
          <p:nvPr/>
        </p:nvSpPr>
        <p:spPr>
          <a:xfrm>
            <a:off x="899853" y="5135183"/>
            <a:ext cx="438912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250" b="1" dirty="0">
                <a:solidFill>
                  <a:srgbClr val="005BBB"/>
                </a:solidFill>
                <a:latin typeface="Arial"/>
              </a:rPr>
              <a:t>Definition lifecycle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8A0555D-DDC1-FC38-7A81-180832845F5C}"/>
              </a:ext>
            </a:extLst>
          </p:cNvPr>
          <p:cNvSpPr txBox="1"/>
          <p:nvPr/>
        </p:nvSpPr>
        <p:spPr>
          <a:xfrm>
            <a:off x="991293" y="5434441"/>
            <a:ext cx="420624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19" b="0" dirty="0">
                <a:solidFill>
                  <a:srgbClr val="242E42"/>
                </a:solidFill>
                <a:latin typeface="Arial"/>
              </a:rPr>
              <a:t>DRAFT → ACTIVE → RETIRED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157F459-BEE4-FF77-5B44-48788F852D71}"/>
              </a:ext>
            </a:extLst>
          </p:cNvPr>
          <p:cNvSpPr txBox="1"/>
          <p:nvPr/>
        </p:nvSpPr>
        <p:spPr>
          <a:xfrm>
            <a:off x="991293" y="5788980"/>
            <a:ext cx="420624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0">
                <a:solidFill>
                  <a:srgbClr val="242E42"/>
                </a:solidFill>
                <a:latin typeface="Arial"/>
              </a:rPr>
              <a:t>ACTIVE and RETIRED versions are immutable.</a:t>
            </a: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0AB6C2FB-900E-7FDD-540A-31B0D5214149}"/>
              </a:ext>
            </a:extLst>
          </p:cNvPr>
          <p:cNvSpPr/>
          <p:nvPr/>
        </p:nvSpPr>
        <p:spPr>
          <a:xfrm>
            <a:off x="5700453" y="5075748"/>
            <a:ext cx="4983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009F578-2069-CA78-C895-259892ABEC72}"/>
              </a:ext>
            </a:extLst>
          </p:cNvPr>
          <p:cNvSpPr txBox="1"/>
          <p:nvPr/>
        </p:nvSpPr>
        <p:spPr>
          <a:xfrm>
            <a:off x="5929053" y="5114401"/>
            <a:ext cx="452628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250" b="1" dirty="0">
                <a:solidFill>
                  <a:srgbClr val="008C79"/>
                </a:solidFill>
                <a:latin typeface="Arial"/>
              </a:rPr>
              <a:t>Runtime lifecycle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FE2D7B2-BBFD-F016-96AF-A1BEA355CBBA}"/>
              </a:ext>
            </a:extLst>
          </p:cNvPr>
          <p:cNvSpPr txBox="1"/>
          <p:nvPr/>
        </p:nvSpPr>
        <p:spPr>
          <a:xfrm>
            <a:off x="5837613" y="5395371"/>
            <a:ext cx="4736592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900" b="0" dirty="0">
                <a:solidFill>
                  <a:srgbClr val="242E42"/>
                </a:solidFill>
                <a:latin typeface="Arial"/>
              </a:rPr>
              <a:t>ACKNOWLEDGED → QUEUED → PROCESSING → terminal outcome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AD4F113-2EF6-0C65-4359-14BA2D479406}"/>
              </a:ext>
            </a:extLst>
          </p:cNvPr>
          <p:cNvSpPr txBox="1"/>
          <p:nvPr/>
        </p:nvSpPr>
        <p:spPr>
          <a:xfrm>
            <a:off x="5837613" y="5583654"/>
            <a:ext cx="4736592" cy="5909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900" b="0" dirty="0">
                <a:solidFill>
                  <a:srgbClr val="242E42"/>
                </a:solidFill>
                <a:latin typeface="Arial"/>
              </a:rPr>
              <a:t>Cancellation path: CANCELLING → CANCELLED or CANCELLATIONFAILED</a:t>
            </a:r>
            <a:br>
              <a:rPr lang="en-AU" sz="900" b="0" dirty="0">
                <a:solidFill>
                  <a:srgbClr val="242E42"/>
                </a:solidFill>
                <a:latin typeface="Arial"/>
              </a:rPr>
            </a:br>
            <a:r>
              <a:rPr lang="en-AU" sz="900" b="0" dirty="0">
                <a:solidFill>
                  <a:srgbClr val="242E42"/>
                </a:solidFill>
                <a:latin typeface="Arial"/>
              </a:rPr>
              <a:t>terminals:</a:t>
            </a:r>
          </a:p>
          <a:p>
            <a:pPr algn="ctr"/>
            <a:r>
              <a:rPr lang="en-AU" sz="900" dirty="0"/>
              <a:t>COMPLETED, INFEASIBLE, FAILED, CANCELLED or CANCELLATIONFAILED</a:t>
            </a:r>
          </a:p>
          <a:p>
            <a:pPr algn="ctr"/>
            <a:endParaRPr sz="900" b="0" dirty="0">
              <a:solidFill>
                <a:srgbClr val="242E4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8497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RESILIENCE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Designed to fail safely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881360" y="228600"/>
            <a:ext cx="969264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9ED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telst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3693" y="283464"/>
            <a:ext cx="431447" cy="4937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" y="1554480"/>
            <a:ext cx="10424160" cy="804672"/>
          </a:xfrm>
          <a:prstGeom prst="roundRect">
            <a:avLst>
              <a:gd name="adj" fmla="val 13636"/>
            </a:avLst>
          </a:prstGeom>
          <a:solidFill>
            <a:srgbClr val="F7F9FC"/>
          </a:solidFill>
          <a:ln w="12700">
            <a:solidFill>
              <a:srgbClr val="D8E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" y="1554480"/>
            <a:ext cx="146304" cy="804672"/>
          </a:xfrm>
          <a:prstGeom prst="rect">
            <a:avLst/>
          </a:prstGeom>
          <a:solidFill>
            <a:srgbClr val="0D5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234440" y="17373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1A35"/>
                </a:solidFill>
              </a:rPr>
              <a:t>Persist first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703320" y="173736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</a:rPr>
              <a:t>Runtime state and outbox are durable before execution continues.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68680" y="2633472"/>
            <a:ext cx="10424160" cy="804672"/>
          </a:xfrm>
          <a:prstGeom prst="roundRect">
            <a:avLst>
              <a:gd name="adj" fmla="val 13636"/>
            </a:avLst>
          </a:prstGeom>
          <a:solidFill>
            <a:srgbClr val="F7F9FC"/>
          </a:solidFill>
          <a:ln w="12700">
            <a:solidFill>
              <a:srgbClr val="D8E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68680" y="2633472"/>
            <a:ext cx="146304" cy="804672"/>
          </a:xfrm>
          <a:prstGeom prst="rect">
            <a:avLst/>
          </a:prstGeom>
          <a:solidFill>
            <a:srgbClr val="F9644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234440" y="28163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Project idempotently</a:t>
            </a:r>
          </a:p>
        </p:txBody>
      </p:sp>
      <p:sp>
        <p:nvSpPr>
          <p:cNvPr id="13" name="Text 10"/>
          <p:cNvSpPr/>
          <p:nvPr/>
        </p:nvSpPr>
        <p:spPr>
          <a:xfrm>
            <a:off x="3703320" y="28163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</a:rPr>
              <a:t>Controller inbox handles duplicate, stale and late worker outcomes.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68680" y="3712464"/>
            <a:ext cx="10424160" cy="804672"/>
          </a:xfrm>
          <a:prstGeom prst="roundRect">
            <a:avLst>
              <a:gd name="adj" fmla="val 13636"/>
            </a:avLst>
          </a:prstGeom>
          <a:solidFill>
            <a:srgbClr val="F7F9FC"/>
          </a:solidFill>
          <a:ln w="12700">
            <a:solidFill>
              <a:srgbClr val="D8E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68680" y="3712464"/>
            <a:ext cx="146304" cy="804672"/>
          </a:xfrm>
          <a:prstGeom prst="rect">
            <a:avLst/>
          </a:prstGeom>
          <a:solidFill>
            <a:srgbClr val="16C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234440" y="38953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1A35"/>
                </a:solidFill>
              </a:rPr>
              <a:t>Notify after projection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3703320" y="389534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</a:rPr>
              <a:t>Webhooks are sent only after Controller has persisted lifecycle or result.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68680" y="4791456"/>
            <a:ext cx="10424160" cy="804672"/>
          </a:xfrm>
          <a:prstGeom prst="roundRect">
            <a:avLst>
              <a:gd name="adj" fmla="val 13636"/>
            </a:avLst>
          </a:prstGeom>
          <a:solidFill>
            <a:srgbClr val="F7F9FC"/>
          </a:solidFill>
          <a:ln w="12700">
            <a:solidFill>
              <a:srgbClr val="D8E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68680" y="4791456"/>
            <a:ext cx="146304" cy="804672"/>
          </a:xfrm>
          <a:prstGeom prst="rect">
            <a:avLst/>
          </a:prstGeom>
          <a:solidFill>
            <a:srgbClr val="6C3B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234440" y="49743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1A35"/>
                </a:solidFill>
              </a:rPr>
              <a:t>Fallback safely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3703320" y="497433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</a:rPr>
              <a:t>Circuit breakers and Caches enable  us to fail fast gracefully. 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60120" y="589788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54FF"/>
                </a:solidFill>
              </a:rPr>
              <a:t>Executive risk posture: protect the customer-facing API and audit trail even when solver, Kafka, cache or callback dependencies degrade.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3658" y="6473952"/>
            <a:ext cx="2020976" cy="109728"/>
          </a:xfrm>
          <a:prstGeom prst="rect">
            <a:avLst/>
          </a:prstGeom>
          <a:solidFill>
            <a:srgbClr val="0D54FF"/>
          </a:solidFill>
          <a:ln w="12700">
            <a:solidFill>
              <a:srgbClr val="0D5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2035607" y="6473952"/>
            <a:ext cx="2020976" cy="109728"/>
          </a:xfrm>
          <a:prstGeom prst="rect">
            <a:avLst/>
          </a:prstGeom>
          <a:solidFill>
            <a:srgbClr val="F96449"/>
          </a:solidFill>
          <a:ln w="12700">
            <a:solidFill>
              <a:srgbClr val="F964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067556" y="6473952"/>
            <a:ext cx="2020976" cy="109728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099505" y="6473952"/>
            <a:ext cx="2020976" cy="109728"/>
          </a:xfrm>
          <a:prstGeom prst="rect">
            <a:avLst/>
          </a:prstGeom>
          <a:solidFill>
            <a:srgbClr val="6C3BFF"/>
          </a:solidFill>
          <a:ln w="12700">
            <a:solidFill>
              <a:srgbClr val="6C3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8131454" y="6473952"/>
            <a:ext cx="2020976" cy="109728"/>
          </a:xfrm>
          <a:prstGeom prst="rect">
            <a:avLst/>
          </a:prstGeom>
          <a:solidFill>
            <a:srgbClr val="19B66A"/>
          </a:solidFill>
          <a:ln w="12700">
            <a:solidFill>
              <a:srgbClr val="19B6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10163404" y="6473952"/>
            <a:ext cx="2020976" cy="109728"/>
          </a:xfrm>
          <a:prstGeom prst="rect">
            <a:avLst/>
          </a:prstGeom>
          <a:solidFill>
            <a:srgbClr val="E72C83"/>
          </a:solidFill>
          <a:ln w="12700">
            <a:solidFill>
              <a:srgbClr val="E72C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11480" y="660196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Optimisation platform · software architecture baseline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729984"/>
            <a:ext cx="2032000" cy="128016"/>
          </a:xfrm>
          <a:prstGeom prst="rect">
            <a:avLst/>
          </a:prstGeom>
          <a:solidFill>
            <a:srgbClr val="00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32000" y="6729984"/>
            <a:ext cx="2032000" cy="128016"/>
          </a:xfrm>
          <a:prstGeom prst="rect">
            <a:avLst/>
          </a:prstGeom>
          <a:solidFill>
            <a:srgbClr val="FF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064000" y="6729984"/>
            <a:ext cx="2032000" cy="128016"/>
          </a:xfrm>
          <a:prstGeom prst="rect">
            <a:avLst/>
          </a:prstGeom>
          <a:solidFill>
            <a:srgbClr val="1AC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0" y="6729984"/>
            <a:ext cx="2032000" cy="128016"/>
          </a:xfrm>
          <a:prstGeom prst="rect">
            <a:avLst/>
          </a:prstGeom>
          <a:solidFill>
            <a:srgbClr val="703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28000" y="6729984"/>
            <a:ext cx="2032000" cy="128016"/>
          </a:xfrm>
          <a:prstGeom prst="rect">
            <a:avLst/>
          </a:prstGeom>
          <a:solidFill>
            <a:srgbClr val="1DB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60000" y="6729984"/>
            <a:ext cx="2032000" cy="128016"/>
          </a:xfrm>
          <a:prstGeom prst="rect">
            <a:avLst/>
          </a:prstGeom>
          <a:solidFill>
            <a:srgbClr val="E62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47104"/>
            <a:ext cx="4114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6E80"/>
                </a:solidFill>
              </a:defRPr>
            </a:pPr>
            <a:r>
              <a:t>Optimisation platform · software architecture baseline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83464"/>
            <a:ext cx="713232" cy="475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320040"/>
            <a:ext cx="2743200" cy="425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800" b="0"/>
            </a:pPr>
            <a:r>
              <a:rPr sz="1200" b="1" dirty="0">
                <a:solidFill>
                  <a:srgbClr val="0D54FF"/>
                </a:solidFill>
                <a:latin typeface="Aptos" pitchFamily="34" charset="0"/>
              </a:rPr>
              <a:t>DELIVERY AND</a:t>
            </a:r>
          </a:p>
          <a:p>
            <a:pPr>
              <a:lnSpc>
                <a:spcPct val="90000"/>
              </a:lnSpc>
              <a:defRPr sz="1800" b="0"/>
            </a:pPr>
            <a:r>
              <a:rPr sz="1200" b="1" dirty="0">
                <a:solidFill>
                  <a:srgbClr val="0D54FF"/>
                </a:solidFill>
                <a:latin typeface="Aptos" pitchFamily="34" charset="0"/>
              </a:rPr>
              <a:t>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835430"/>
            <a:ext cx="9875520" cy="426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800" b="0"/>
            </a:pPr>
            <a:r>
              <a:rPr sz="2400" b="1" dirty="0"/>
              <a:t>Built from code, secured by Vault, operated elastically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261872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300" b="0"/>
            </a:pPr>
            <a:r>
              <a:rPr sz="1300" b="0" dirty="0"/>
              <a:t>Infrastructure is defined as code and promoted through governed delivery. Kubernetes telemetry and dashboards support elastic scaling in public and hybrid cloud environments.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783080"/>
            <a:ext cx="10927080" cy="9144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8680" y="1984248"/>
            <a:ext cx="23317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048256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rPr sz="1200" b="1"/>
              <a:t>IaC and GitOps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258568"/>
            <a:ext cx="2148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/>
            </a:pPr>
            <a:r>
              <a:rPr sz="900" b="0"/>
              <a:t>cattle not pets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3552" y="2130552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56FF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1984248"/>
            <a:ext cx="23317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66160" y="2048256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200" b="1"/>
            </a:pPr>
            <a:r>
              <a:rPr sz="1200" b="1"/>
              <a:t>CI and CD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258568"/>
            <a:ext cx="2148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 b="0"/>
            </a:pPr>
            <a:r>
              <a:rPr sz="900" b="0"/>
              <a:t>build, test, scan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9592" y="2130552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56FF"/>
                </a:solidFill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1984248"/>
            <a:ext cx="23317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72200" y="2048256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200" b="1"/>
            </a:pPr>
            <a:r>
              <a:rPr sz="1200" b="1"/>
              <a:t>Vault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258568"/>
            <a:ext cx="2148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 b="0"/>
            </a:pPr>
            <a:r>
              <a:rPr sz="900" b="0"/>
              <a:t>keys and secrets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2130552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56FF"/>
                </a:solidFill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1984248"/>
            <a:ext cx="23317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78240" y="2048256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200" b="1"/>
            </a:pPr>
            <a:r>
              <a:rPr sz="1200" b="1"/>
              <a:t>Kubernetes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2258568"/>
            <a:ext cx="2148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 b="0"/>
            </a:pPr>
            <a:r>
              <a:rPr sz="900" b="0"/>
              <a:t>elastic runtime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06324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" y="3063240"/>
            <a:ext cx="91440" cy="1234440"/>
          </a:xfrm>
          <a:prstGeom prst="rect">
            <a:avLst/>
          </a:prstGeom>
          <a:solidFill>
            <a:srgbClr val="00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6112" y="324612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300" b="0"/>
            </a:pPr>
            <a:r>
              <a:rPr sz="1300" b="0"/>
              <a:t>GitOps delivery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3593592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50" b="0"/>
            </a:pPr>
            <a:r>
              <a:rPr sz="950" b="0" dirty="0" err="1"/>
              <a:t>GitOps</a:t>
            </a:r>
            <a:r>
              <a:rPr sz="950" b="0" dirty="0"/>
              <a:t> keeps application and infrastructure desired state reviewable, versioned and repeatable before promotion.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43400" y="306324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343400" y="3063240"/>
            <a:ext cx="91440" cy="1234440"/>
          </a:xfrm>
          <a:prstGeom prst="rect">
            <a:avLst/>
          </a:prstGeom>
          <a:solidFill>
            <a:srgbClr val="703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99432" y="324612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300" b="0"/>
            </a:pPr>
            <a:r>
              <a:rPr sz="1300" b="0"/>
              <a:t>Secure keys and secrets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9432" y="3593592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50" b="0"/>
            </a:pPr>
            <a:r>
              <a:rPr sz="950" b="0"/>
              <a:t>Vault protects database credentials, tokens, certificates, signing keys, mTLS trust material and Gurobi licence material.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306324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46720" y="3063240"/>
            <a:ext cx="91440" cy="1234440"/>
          </a:xfrm>
          <a:prstGeom prst="rect">
            <a:avLst/>
          </a:prstGeom>
          <a:solidFill>
            <a:srgbClr val="FF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02752" y="324612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300" b="0"/>
            </a:pPr>
            <a:r>
              <a:rPr sz="1300" b="0"/>
              <a:t>Elastic operations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2752" y="3593592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50" b="0"/>
            </a:pPr>
            <a:r>
              <a:rPr sz="950" b="0"/>
              <a:t>Kubernetes telemetry and instrumentation support scale out and scale in based on demand, backed by monitoring, logging and dashboards.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892040"/>
            <a:ext cx="10744200" cy="786384"/>
          </a:xfrm>
          <a:prstGeom prst="roundRect">
            <a:avLst/>
          </a:prstGeom>
          <a:solidFill>
            <a:srgbClr val="EFF5FF"/>
          </a:solidFill>
          <a:ln>
            <a:solidFill>
              <a:srgbClr val="BE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60120" y="506577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200" b="0"/>
            </a:pPr>
            <a:r>
              <a:rPr sz="1200" b="0"/>
              <a:t>Delivery</a:t>
            </a:r>
          </a:p>
          <a:p>
            <a:pPr>
              <a:lnSpc>
                <a:spcPct val="90000"/>
              </a:lnSpc>
              <a:defRPr sz="1200" b="0"/>
            </a:pPr>
            <a:r>
              <a:rPr sz="1200" b="0"/>
              <a:t>guardrail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84831" y="5010912"/>
            <a:ext cx="9006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50" b="0"/>
            </a:pPr>
            <a:r>
              <a:rPr sz="1050" b="0"/>
              <a:t>Infrastructure is re-created from code rather than hand-managed. GitHub Copilot, Claude Code and Codex can assist delivery, but changes still flow through pull requests, quality gates, security scanning, GitOps promotion and controlled release governance.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114D92-8043-FBCC-E2AE-5EB50D37D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A03BA4-13EB-4D22-B067-49BE901B61A2}"/>
              </a:ext>
            </a:extLst>
          </p:cNvPr>
          <p:cNvSpPr/>
          <p:nvPr/>
        </p:nvSpPr>
        <p:spPr>
          <a:xfrm>
            <a:off x="0" y="6729984"/>
            <a:ext cx="2032000" cy="128016"/>
          </a:xfrm>
          <a:prstGeom prst="rect">
            <a:avLst/>
          </a:prstGeom>
          <a:solidFill>
            <a:srgbClr val="00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D2BEC5-A452-96DB-F6AD-AF8A6C55D797}"/>
              </a:ext>
            </a:extLst>
          </p:cNvPr>
          <p:cNvSpPr/>
          <p:nvPr/>
        </p:nvSpPr>
        <p:spPr>
          <a:xfrm>
            <a:off x="2032000" y="6729984"/>
            <a:ext cx="2032000" cy="128016"/>
          </a:xfrm>
          <a:prstGeom prst="rect">
            <a:avLst/>
          </a:prstGeom>
          <a:solidFill>
            <a:srgbClr val="FF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CDF782-72B1-9A4A-08FA-7438005A24C3}"/>
              </a:ext>
            </a:extLst>
          </p:cNvPr>
          <p:cNvSpPr/>
          <p:nvPr/>
        </p:nvSpPr>
        <p:spPr>
          <a:xfrm>
            <a:off x="4064000" y="6729984"/>
            <a:ext cx="2032000" cy="128016"/>
          </a:xfrm>
          <a:prstGeom prst="rect">
            <a:avLst/>
          </a:prstGeom>
          <a:solidFill>
            <a:srgbClr val="1AC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C4F7B2-9E48-3003-DA9E-4B30C5503E64}"/>
              </a:ext>
            </a:extLst>
          </p:cNvPr>
          <p:cNvSpPr/>
          <p:nvPr/>
        </p:nvSpPr>
        <p:spPr>
          <a:xfrm>
            <a:off x="6096000" y="6729984"/>
            <a:ext cx="2032000" cy="128016"/>
          </a:xfrm>
          <a:prstGeom prst="rect">
            <a:avLst/>
          </a:prstGeom>
          <a:solidFill>
            <a:srgbClr val="703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8A8AC3-5F4D-23FA-1CFC-665F8789B5D5}"/>
              </a:ext>
            </a:extLst>
          </p:cNvPr>
          <p:cNvSpPr/>
          <p:nvPr/>
        </p:nvSpPr>
        <p:spPr>
          <a:xfrm>
            <a:off x="8128000" y="6729984"/>
            <a:ext cx="2032000" cy="128016"/>
          </a:xfrm>
          <a:prstGeom prst="rect">
            <a:avLst/>
          </a:prstGeom>
          <a:solidFill>
            <a:srgbClr val="1DB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E3476C-F647-0EC7-5F58-F7E8B220FCE0}"/>
              </a:ext>
            </a:extLst>
          </p:cNvPr>
          <p:cNvSpPr/>
          <p:nvPr/>
        </p:nvSpPr>
        <p:spPr>
          <a:xfrm>
            <a:off x="10160000" y="6729984"/>
            <a:ext cx="2032000" cy="128016"/>
          </a:xfrm>
          <a:prstGeom prst="rect">
            <a:avLst/>
          </a:prstGeom>
          <a:solidFill>
            <a:srgbClr val="E62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D7FD8F-27C0-95E2-A75F-A8D6D4F1D8A9}"/>
              </a:ext>
            </a:extLst>
          </p:cNvPr>
          <p:cNvSpPr txBox="1"/>
          <p:nvPr/>
        </p:nvSpPr>
        <p:spPr>
          <a:xfrm>
            <a:off x="411480" y="6547104"/>
            <a:ext cx="4114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6E80"/>
                </a:solidFill>
              </a:defRPr>
            </a:pPr>
            <a:r>
              <a:t>Optimisation platform · software architecture baseline</a:t>
            </a:r>
          </a:p>
        </p:txBody>
      </p:sp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489F955A-1B1B-5CF9-A5D7-1CE4E1BBF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83464"/>
            <a:ext cx="713232" cy="475488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7CC46DE9-C360-7A22-E778-0789556D03DA}"/>
              </a:ext>
            </a:extLst>
          </p:cNvPr>
          <p:cNvSpPr txBox="1"/>
          <p:nvPr/>
        </p:nvSpPr>
        <p:spPr>
          <a:xfrm>
            <a:off x="502920" y="228600"/>
            <a:ext cx="3657600" cy="25603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1100" b="1">
                <a:solidFill>
                  <a:srgbClr val="0D54FF"/>
                </a:solidFill>
                <a:latin typeface="Arial"/>
              </a:rPr>
              <a:t>ASSET BUILD BLUEPRINT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F101481-7F51-D868-C898-122A15154455}"/>
              </a:ext>
            </a:extLst>
          </p:cNvPr>
          <p:cNvSpPr txBox="1"/>
          <p:nvPr/>
        </p:nvSpPr>
        <p:spPr>
          <a:xfrm>
            <a:off x="502920" y="502920"/>
            <a:ext cx="7040880" cy="420624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2500" b="1">
                <a:solidFill>
                  <a:srgbClr val="131A35"/>
                </a:solidFill>
                <a:latin typeface="Arial"/>
              </a:rPr>
              <a:t>Standing up a new reusable optimisation asset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202290B-5DBD-D920-7CD1-33055FCDAD51}"/>
              </a:ext>
            </a:extLst>
          </p:cNvPr>
          <p:cNvSpPr txBox="1"/>
          <p:nvPr/>
        </p:nvSpPr>
        <p:spPr>
          <a:xfrm>
            <a:off x="502920" y="1614493"/>
            <a:ext cx="7452360" cy="292608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1150" b="0" dirty="0">
                <a:solidFill>
                  <a:srgbClr val="5F6B7A"/>
                </a:solidFill>
                <a:latin typeface="Arial"/>
              </a:rPr>
              <a:t>From platform foundation to repeatable capability onboarding.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6463AEB8-3D76-7094-E89B-D7EF8B2A2B6D}"/>
              </a:ext>
            </a:extLst>
          </p:cNvPr>
          <p:cNvSpPr/>
          <p:nvPr/>
        </p:nvSpPr>
        <p:spPr>
          <a:xfrm>
            <a:off x="438912" y="2116050"/>
            <a:ext cx="1609344" cy="2891076"/>
          </a:xfrm>
          <a:prstGeom prst="roundRect">
            <a:avLst/>
          </a:prstGeom>
          <a:solidFill>
            <a:srgbClr val="F6F8FC"/>
          </a:solidFill>
          <a:ln w="9525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1AB3C9F-D58C-30C9-F50C-812E2382FAD2}"/>
              </a:ext>
            </a:extLst>
          </p:cNvPr>
          <p:cNvSpPr/>
          <p:nvPr/>
        </p:nvSpPr>
        <p:spPr>
          <a:xfrm>
            <a:off x="548640" y="2693694"/>
            <a:ext cx="310896" cy="310896"/>
          </a:xfrm>
          <a:prstGeom prst="ellipse">
            <a:avLst/>
          </a:prstGeom>
          <a:solidFill>
            <a:srgbClr val="0D54FF"/>
          </a:solidFill>
          <a:ln>
            <a:solidFill>
              <a:srgbClr val="0D5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EAC6963-A643-B1D4-D16A-7D42BC488DF1}"/>
              </a:ext>
            </a:extLst>
          </p:cNvPr>
          <p:cNvSpPr txBox="1"/>
          <p:nvPr/>
        </p:nvSpPr>
        <p:spPr>
          <a:xfrm>
            <a:off x="941832" y="2657118"/>
            <a:ext cx="1014984" cy="27432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1220" b="1">
                <a:solidFill>
                  <a:srgbClr val="131A35"/>
                </a:solidFill>
                <a:latin typeface="Arial"/>
              </a:rPr>
              <a:t>Foundation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579D848-90B1-4B9F-C9D0-377DD3693E65}"/>
              </a:ext>
            </a:extLst>
          </p:cNvPr>
          <p:cNvSpPr txBox="1"/>
          <p:nvPr/>
        </p:nvSpPr>
        <p:spPr>
          <a:xfrm>
            <a:off x="576072" y="3086886"/>
            <a:ext cx="1335024" cy="182880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910" b="0" dirty="0">
                <a:solidFill>
                  <a:srgbClr val="5F6B7A"/>
                </a:solidFill>
                <a:latin typeface="Arial"/>
              </a:rPr>
              <a:t>Repos, </a:t>
            </a:r>
            <a:r>
              <a:rPr sz="910" b="0" dirty="0" err="1">
                <a:solidFill>
                  <a:srgbClr val="5F6B7A"/>
                </a:solidFill>
                <a:latin typeface="Arial"/>
              </a:rPr>
              <a:t>IaC</a:t>
            </a:r>
            <a:r>
              <a:rPr sz="910" b="0" dirty="0">
                <a:solidFill>
                  <a:srgbClr val="5F6B7A"/>
                </a:solidFill>
                <a:latin typeface="Arial"/>
              </a:rPr>
              <a:t>, Kubernetes runtime, Vault, PostgreSQL, Kafka, Redis and observability.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CF436339-273E-C18D-02CF-646FDE32146C}"/>
              </a:ext>
            </a:extLst>
          </p:cNvPr>
          <p:cNvSpPr/>
          <p:nvPr/>
        </p:nvSpPr>
        <p:spPr>
          <a:xfrm>
            <a:off x="2167128" y="2116050"/>
            <a:ext cx="1609344" cy="2891076"/>
          </a:xfrm>
          <a:prstGeom prst="roundRect">
            <a:avLst/>
          </a:prstGeom>
          <a:solidFill>
            <a:srgbClr val="F6F8FC"/>
          </a:solidFill>
          <a:ln w="9525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98F8738-7431-26FC-0CE9-D886C7F380A6}"/>
              </a:ext>
            </a:extLst>
          </p:cNvPr>
          <p:cNvSpPr/>
          <p:nvPr/>
        </p:nvSpPr>
        <p:spPr>
          <a:xfrm>
            <a:off x="2276856" y="2693694"/>
            <a:ext cx="310896" cy="310896"/>
          </a:xfrm>
          <a:prstGeom prst="ellipse">
            <a:avLst/>
          </a:prstGeom>
          <a:solidFill>
            <a:srgbClr val="19B66A"/>
          </a:solidFill>
          <a:ln>
            <a:solidFill>
              <a:srgbClr val="19B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36523E7-4232-AC71-E986-FEA5D82A9292}"/>
              </a:ext>
            </a:extLst>
          </p:cNvPr>
          <p:cNvSpPr txBox="1"/>
          <p:nvPr/>
        </p:nvSpPr>
        <p:spPr>
          <a:xfrm>
            <a:off x="2670048" y="2657118"/>
            <a:ext cx="1014984" cy="27432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1220" b="1">
                <a:solidFill>
                  <a:srgbClr val="131A35"/>
                </a:solidFill>
                <a:latin typeface="Arial"/>
              </a:rPr>
              <a:t>Platform services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98CCE5D-0117-52D1-0E19-E31FA70DEE92}"/>
              </a:ext>
            </a:extLst>
          </p:cNvPr>
          <p:cNvSpPr txBox="1"/>
          <p:nvPr/>
        </p:nvSpPr>
        <p:spPr>
          <a:xfrm>
            <a:off x="2304288" y="3086886"/>
            <a:ext cx="1335024" cy="182880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910" b="0" dirty="0">
                <a:solidFill>
                  <a:srgbClr val="5F6B7A"/>
                </a:solidFill>
                <a:latin typeface="Arial"/>
              </a:rPr>
              <a:t>Definition, Controller, Screen Builder, Worker and governed OAS contracts.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0A2CF014-9349-4DD4-AF08-4E4740BCA996}"/>
              </a:ext>
            </a:extLst>
          </p:cNvPr>
          <p:cNvSpPr/>
          <p:nvPr/>
        </p:nvSpPr>
        <p:spPr>
          <a:xfrm>
            <a:off x="3895344" y="2116050"/>
            <a:ext cx="1609344" cy="2891076"/>
          </a:xfrm>
          <a:prstGeom prst="roundRect">
            <a:avLst/>
          </a:prstGeom>
          <a:solidFill>
            <a:srgbClr val="F6F8FC"/>
          </a:solidFill>
          <a:ln w="9525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28796A6-52C3-DA61-3D9B-A54B238327CC}"/>
              </a:ext>
            </a:extLst>
          </p:cNvPr>
          <p:cNvSpPr/>
          <p:nvPr/>
        </p:nvSpPr>
        <p:spPr>
          <a:xfrm>
            <a:off x="4005072" y="2693694"/>
            <a:ext cx="310896" cy="310896"/>
          </a:xfrm>
          <a:prstGeom prst="ellipse">
            <a:avLst/>
          </a:prstGeom>
          <a:solidFill>
            <a:srgbClr val="F96449"/>
          </a:solidFill>
          <a:ln>
            <a:solidFill>
              <a:srgbClr val="F96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FB15D17-6826-DFAF-01FE-FAA510D18AC1}"/>
              </a:ext>
            </a:extLst>
          </p:cNvPr>
          <p:cNvSpPr txBox="1"/>
          <p:nvPr/>
        </p:nvSpPr>
        <p:spPr>
          <a:xfrm>
            <a:off x="4398264" y="2657118"/>
            <a:ext cx="1014984" cy="27432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1220" b="1">
                <a:solidFill>
                  <a:srgbClr val="131A35"/>
                </a:solidFill>
                <a:latin typeface="Arial"/>
              </a:rPr>
              <a:t>First capability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574E041-F36B-52C3-18AA-310D9F5CA298}"/>
              </a:ext>
            </a:extLst>
          </p:cNvPr>
          <p:cNvSpPr txBox="1"/>
          <p:nvPr/>
        </p:nvSpPr>
        <p:spPr>
          <a:xfrm>
            <a:off x="4032504" y="3086886"/>
            <a:ext cx="1335024" cy="182880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910" b="0">
                <a:solidFill>
                  <a:srgbClr val="5F6B7A"/>
                </a:solidFill>
                <a:latin typeface="Arial"/>
              </a:rPr>
              <a:t>One specification, one request contract, one worker binding and one runtime path.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30A23B32-3751-F355-18F0-6E6DFE0F203A}"/>
              </a:ext>
            </a:extLst>
          </p:cNvPr>
          <p:cNvSpPr/>
          <p:nvPr/>
        </p:nvSpPr>
        <p:spPr>
          <a:xfrm>
            <a:off x="5623560" y="2116050"/>
            <a:ext cx="1609344" cy="2891076"/>
          </a:xfrm>
          <a:prstGeom prst="roundRect">
            <a:avLst/>
          </a:prstGeom>
          <a:solidFill>
            <a:srgbClr val="F6F8FC"/>
          </a:solidFill>
          <a:ln w="9525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FA72082-5C0E-C7D8-CC58-A2B8D433E837}"/>
              </a:ext>
            </a:extLst>
          </p:cNvPr>
          <p:cNvSpPr/>
          <p:nvPr/>
        </p:nvSpPr>
        <p:spPr>
          <a:xfrm>
            <a:off x="5733288" y="2693694"/>
            <a:ext cx="310896" cy="310896"/>
          </a:xfrm>
          <a:prstGeom prst="ellipse">
            <a:avLst/>
          </a:prstGeom>
          <a:solidFill>
            <a:srgbClr val="6C3BFF"/>
          </a:solidFill>
          <a:ln>
            <a:solidFill>
              <a:srgbClr val="6C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694A407-F2A6-82CF-2780-AFB6E0F8156A}"/>
              </a:ext>
            </a:extLst>
          </p:cNvPr>
          <p:cNvSpPr txBox="1"/>
          <p:nvPr/>
        </p:nvSpPr>
        <p:spPr>
          <a:xfrm>
            <a:off x="6126480" y="2657118"/>
            <a:ext cx="1014984" cy="27432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1220" b="1">
                <a:solidFill>
                  <a:srgbClr val="131A35"/>
                </a:solidFill>
                <a:latin typeface="Arial"/>
              </a:rPr>
              <a:t>Operating model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7229E9A-3B9A-0356-A450-DDA32EE12938}"/>
              </a:ext>
            </a:extLst>
          </p:cNvPr>
          <p:cNvSpPr txBox="1"/>
          <p:nvPr/>
        </p:nvSpPr>
        <p:spPr>
          <a:xfrm>
            <a:off x="5760720" y="3086886"/>
            <a:ext cx="1335024" cy="182880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910" b="0">
                <a:solidFill>
                  <a:srgbClr val="5F6B7A"/>
                </a:solidFill>
                <a:latin typeface="Arial"/>
              </a:rPr>
              <a:t>Ownership, runbooks, dashboards, DLQ handling, security controls and release governance.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29E6264A-BA57-7BB1-5185-EC6F8BFFA8F6}"/>
              </a:ext>
            </a:extLst>
          </p:cNvPr>
          <p:cNvSpPr/>
          <p:nvPr/>
        </p:nvSpPr>
        <p:spPr>
          <a:xfrm>
            <a:off x="7351776" y="2116050"/>
            <a:ext cx="1609344" cy="2891076"/>
          </a:xfrm>
          <a:prstGeom prst="roundRect">
            <a:avLst/>
          </a:prstGeom>
          <a:solidFill>
            <a:srgbClr val="F6F8FC"/>
          </a:solidFill>
          <a:ln w="9525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902F40DB-9BBB-E65D-8260-52B1EE339214}"/>
              </a:ext>
            </a:extLst>
          </p:cNvPr>
          <p:cNvSpPr/>
          <p:nvPr/>
        </p:nvSpPr>
        <p:spPr>
          <a:xfrm>
            <a:off x="7461504" y="2693694"/>
            <a:ext cx="310896" cy="310896"/>
          </a:xfrm>
          <a:prstGeom prst="ellipse">
            <a:avLst/>
          </a:prstGeom>
          <a:solidFill>
            <a:srgbClr val="00A699"/>
          </a:solidFill>
          <a:ln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EC53A5F-A8C3-0FB8-99BC-60F8E93CCBE6}"/>
              </a:ext>
            </a:extLst>
          </p:cNvPr>
          <p:cNvSpPr txBox="1"/>
          <p:nvPr/>
        </p:nvSpPr>
        <p:spPr>
          <a:xfrm>
            <a:off x="7854696" y="2657118"/>
            <a:ext cx="1014984" cy="27432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1220" b="1">
                <a:solidFill>
                  <a:srgbClr val="131A35"/>
                </a:solidFill>
                <a:latin typeface="Arial"/>
              </a:rPr>
              <a:t>Scale-out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B27373B-6D5E-DD67-295B-DED22F8D30EA}"/>
              </a:ext>
            </a:extLst>
          </p:cNvPr>
          <p:cNvSpPr txBox="1"/>
          <p:nvPr/>
        </p:nvSpPr>
        <p:spPr>
          <a:xfrm>
            <a:off x="7488936" y="3086886"/>
            <a:ext cx="1335024" cy="182880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910" b="0">
                <a:solidFill>
                  <a:srgbClr val="5F6B7A"/>
                </a:solidFill>
                <a:latin typeface="Arial"/>
              </a:rPr>
              <a:t>Onboard more capabilities through governed Definition contracts without rebuilding.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E187922E-D01A-3830-705B-AC71B5724227}"/>
              </a:ext>
            </a:extLst>
          </p:cNvPr>
          <p:cNvSpPr/>
          <p:nvPr/>
        </p:nvSpPr>
        <p:spPr>
          <a:xfrm>
            <a:off x="594360" y="5327166"/>
            <a:ext cx="7909560" cy="713232"/>
          </a:xfrm>
          <a:prstGeom prst="roundRect">
            <a:avLst/>
          </a:prstGeom>
          <a:solidFill>
            <a:srgbClr val="131A35"/>
          </a:solidFill>
          <a:ln>
            <a:solidFill>
              <a:srgbClr val="131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A9D037D-3EAF-8D50-E420-35794B1342CC}"/>
              </a:ext>
            </a:extLst>
          </p:cNvPr>
          <p:cNvSpPr txBox="1"/>
          <p:nvPr/>
        </p:nvSpPr>
        <p:spPr>
          <a:xfrm>
            <a:off x="822960" y="5446038"/>
            <a:ext cx="1828800" cy="237744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1230" b="1">
                <a:solidFill>
                  <a:srgbClr val="FFFFFF"/>
                </a:solidFill>
                <a:latin typeface="Arial"/>
              </a:rPr>
              <a:t>Build principle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E728CC3-2844-03B6-5DA7-2927DACFB43F}"/>
              </a:ext>
            </a:extLst>
          </p:cNvPr>
          <p:cNvSpPr txBox="1"/>
          <p:nvPr/>
        </p:nvSpPr>
        <p:spPr>
          <a:xfrm>
            <a:off x="2606040" y="5446038"/>
            <a:ext cx="5669280" cy="39319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1019" b="0">
                <a:solidFill>
                  <a:srgbClr val="E9EDF5"/>
                </a:solidFill>
                <a:latin typeface="Arial"/>
              </a:rPr>
              <a:t>Build once as a governed platform; onboard many optimisation capabilities safely.</a:t>
            </a:r>
          </a:p>
        </p:txBody>
      </p:sp>
    </p:spTree>
    <p:extLst>
      <p:ext uri="{BB962C8B-B14F-4D97-AF65-F5344CB8AC3E}">
        <p14:creationId xmlns:p14="http://schemas.microsoft.com/office/powerpoint/2010/main" val="3582209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EEE85E-7079-61C0-69C5-070F169CB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958D78-C942-0D13-729C-8876F862EFE9}"/>
              </a:ext>
            </a:extLst>
          </p:cNvPr>
          <p:cNvSpPr/>
          <p:nvPr/>
        </p:nvSpPr>
        <p:spPr>
          <a:xfrm>
            <a:off x="0" y="6729984"/>
            <a:ext cx="2032000" cy="128016"/>
          </a:xfrm>
          <a:prstGeom prst="rect">
            <a:avLst/>
          </a:prstGeom>
          <a:solidFill>
            <a:srgbClr val="00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D50163-391B-D23C-D59A-7611A6C33754}"/>
              </a:ext>
            </a:extLst>
          </p:cNvPr>
          <p:cNvSpPr/>
          <p:nvPr/>
        </p:nvSpPr>
        <p:spPr>
          <a:xfrm>
            <a:off x="2032000" y="6729984"/>
            <a:ext cx="2032000" cy="128016"/>
          </a:xfrm>
          <a:prstGeom prst="rect">
            <a:avLst/>
          </a:prstGeom>
          <a:solidFill>
            <a:srgbClr val="FF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0B2B68-8FB6-EDB3-A24B-EFCE72AAD52A}"/>
              </a:ext>
            </a:extLst>
          </p:cNvPr>
          <p:cNvSpPr/>
          <p:nvPr/>
        </p:nvSpPr>
        <p:spPr>
          <a:xfrm>
            <a:off x="4064000" y="6729984"/>
            <a:ext cx="2032000" cy="128016"/>
          </a:xfrm>
          <a:prstGeom prst="rect">
            <a:avLst/>
          </a:prstGeom>
          <a:solidFill>
            <a:srgbClr val="1AC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67B829-209D-C4D4-7E80-04E09DFA0954}"/>
              </a:ext>
            </a:extLst>
          </p:cNvPr>
          <p:cNvSpPr/>
          <p:nvPr/>
        </p:nvSpPr>
        <p:spPr>
          <a:xfrm>
            <a:off x="6096000" y="6729984"/>
            <a:ext cx="2032000" cy="128016"/>
          </a:xfrm>
          <a:prstGeom prst="rect">
            <a:avLst/>
          </a:prstGeom>
          <a:solidFill>
            <a:srgbClr val="703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5F79A8-85D5-1A41-E27A-31BE4DE13057}"/>
              </a:ext>
            </a:extLst>
          </p:cNvPr>
          <p:cNvSpPr/>
          <p:nvPr/>
        </p:nvSpPr>
        <p:spPr>
          <a:xfrm>
            <a:off x="8128000" y="6729984"/>
            <a:ext cx="2032000" cy="128016"/>
          </a:xfrm>
          <a:prstGeom prst="rect">
            <a:avLst/>
          </a:prstGeom>
          <a:solidFill>
            <a:srgbClr val="1DB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40A5BD-83C5-1AE8-BDD2-052E74336D57}"/>
              </a:ext>
            </a:extLst>
          </p:cNvPr>
          <p:cNvSpPr/>
          <p:nvPr/>
        </p:nvSpPr>
        <p:spPr>
          <a:xfrm>
            <a:off x="10160000" y="6729984"/>
            <a:ext cx="2032000" cy="128016"/>
          </a:xfrm>
          <a:prstGeom prst="rect">
            <a:avLst/>
          </a:prstGeom>
          <a:solidFill>
            <a:srgbClr val="E62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0411C5-690C-1D52-AF53-256D8F283671}"/>
              </a:ext>
            </a:extLst>
          </p:cNvPr>
          <p:cNvSpPr txBox="1"/>
          <p:nvPr/>
        </p:nvSpPr>
        <p:spPr>
          <a:xfrm>
            <a:off x="411480" y="6547104"/>
            <a:ext cx="4114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6E80"/>
                </a:solidFill>
              </a:defRPr>
            </a:pPr>
            <a:r>
              <a:t>Optimisation platform · software architecture baseline</a:t>
            </a:r>
          </a:p>
        </p:txBody>
      </p:sp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B14B937C-2FF3-1128-476B-30E994845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83464"/>
            <a:ext cx="713232" cy="4754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CE6788-F2C4-08C7-FAF8-AEBEF8911C78}"/>
              </a:ext>
            </a:extLst>
          </p:cNvPr>
          <p:cNvSpPr txBox="1"/>
          <p:nvPr/>
        </p:nvSpPr>
        <p:spPr>
          <a:xfrm>
            <a:off x="502920" y="228600"/>
            <a:ext cx="3657600" cy="25603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1100" b="1">
                <a:solidFill>
                  <a:srgbClr val="0D54FF"/>
                </a:solidFill>
                <a:latin typeface="Arial"/>
              </a:rPr>
              <a:t>MVP ESTABLISHMENT PATH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BC4378-8040-2E57-5D66-0B295CC21961}"/>
              </a:ext>
            </a:extLst>
          </p:cNvPr>
          <p:cNvSpPr txBox="1"/>
          <p:nvPr/>
        </p:nvSpPr>
        <p:spPr>
          <a:xfrm>
            <a:off x="502920" y="502920"/>
            <a:ext cx="7040880" cy="420624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2500" b="1">
                <a:solidFill>
                  <a:srgbClr val="131A35"/>
                </a:solidFill>
                <a:latin typeface="Arial"/>
              </a:rPr>
              <a:t>Thin slice that proves the asset end to end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78E577-041B-BDCB-24E0-C7C5F6EF6D61}"/>
              </a:ext>
            </a:extLst>
          </p:cNvPr>
          <p:cNvSpPr txBox="1"/>
          <p:nvPr/>
        </p:nvSpPr>
        <p:spPr>
          <a:xfrm>
            <a:off x="502920" y="1688065"/>
            <a:ext cx="7452360" cy="292608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1150" b="0">
                <a:solidFill>
                  <a:srgbClr val="5F6B7A"/>
                </a:solidFill>
                <a:latin typeface="Arial"/>
              </a:rPr>
              <a:t>Start small, prove lifecycle and operations, then scale through contracts.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3517BBD-356A-495D-5A6E-7E747ED3CA62}"/>
              </a:ext>
            </a:extLst>
          </p:cNvPr>
          <p:cNvSpPr/>
          <p:nvPr/>
        </p:nvSpPr>
        <p:spPr>
          <a:xfrm>
            <a:off x="594360" y="1980672"/>
            <a:ext cx="3703320" cy="817809"/>
          </a:xfrm>
          <a:prstGeom prst="roundRect">
            <a:avLst/>
          </a:prstGeom>
          <a:solidFill>
            <a:srgbClr val="F6F8FC"/>
          </a:solidFill>
          <a:ln w="9525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2810763-0C89-9FB0-8EC8-2D40A7EF0750}"/>
              </a:ext>
            </a:extLst>
          </p:cNvPr>
          <p:cNvSpPr/>
          <p:nvPr/>
        </p:nvSpPr>
        <p:spPr>
          <a:xfrm>
            <a:off x="704088" y="2090401"/>
            <a:ext cx="310896" cy="310896"/>
          </a:xfrm>
          <a:prstGeom prst="ellipse">
            <a:avLst/>
          </a:prstGeom>
          <a:solidFill>
            <a:srgbClr val="0D54FF"/>
          </a:solidFill>
          <a:ln>
            <a:solidFill>
              <a:srgbClr val="0D5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8BA2B9-9EAF-6AAC-ECE4-6175D9F1F9A1}"/>
              </a:ext>
            </a:extLst>
          </p:cNvPr>
          <p:cNvSpPr txBox="1"/>
          <p:nvPr/>
        </p:nvSpPr>
        <p:spPr>
          <a:xfrm>
            <a:off x="1097280" y="2053825"/>
            <a:ext cx="3108960" cy="27432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1220" b="1">
                <a:solidFill>
                  <a:srgbClr val="131A35"/>
                </a:solidFill>
                <a:latin typeface="Arial"/>
              </a:rPr>
              <a:t>Capability contract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37E787-7ABF-E676-C3E3-94E7BF672DC4}"/>
              </a:ext>
            </a:extLst>
          </p:cNvPr>
          <p:cNvSpPr txBox="1"/>
          <p:nvPr/>
        </p:nvSpPr>
        <p:spPr>
          <a:xfrm>
            <a:off x="731520" y="2483593"/>
            <a:ext cx="3429000" cy="64008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910" b="0">
                <a:solidFill>
                  <a:srgbClr val="5F6B7A"/>
                </a:solidFill>
                <a:latin typeface="Arial"/>
              </a:rPr>
              <a:t>Create one ACTIVE Definition specification with request schema and expression IRI.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7E68BDC-C9B0-1CBF-8B78-B23D9BD2AD2E}"/>
              </a:ext>
            </a:extLst>
          </p:cNvPr>
          <p:cNvSpPr/>
          <p:nvPr/>
        </p:nvSpPr>
        <p:spPr>
          <a:xfrm>
            <a:off x="594360" y="2999649"/>
            <a:ext cx="3703320" cy="800679"/>
          </a:xfrm>
          <a:prstGeom prst="roundRect">
            <a:avLst/>
          </a:prstGeom>
          <a:solidFill>
            <a:srgbClr val="F6F8FC"/>
          </a:solidFill>
          <a:ln w="9525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0B260F1-B5CE-5C4D-7E90-0C76DF937014}"/>
              </a:ext>
            </a:extLst>
          </p:cNvPr>
          <p:cNvSpPr/>
          <p:nvPr/>
        </p:nvSpPr>
        <p:spPr>
          <a:xfrm>
            <a:off x="704088" y="3109378"/>
            <a:ext cx="310896" cy="310896"/>
          </a:xfrm>
          <a:prstGeom prst="ellipse">
            <a:avLst/>
          </a:prstGeom>
          <a:solidFill>
            <a:srgbClr val="19B66A"/>
          </a:solidFill>
          <a:ln>
            <a:solidFill>
              <a:srgbClr val="19B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BB7886-8513-ADCE-E29A-B50FBE4C804F}"/>
              </a:ext>
            </a:extLst>
          </p:cNvPr>
          <p:cNvSpPr txBox="1"/>
          <p:nvPr/>
        </p:nvSpPr>
        <p:spPr>
          <a:xfrm>
            <a:off x="1097280" y="3072802"/>
            <a:ext cx="3108960" cy="27432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1220" b="1">
                <a:solidFill>
                  <a:srgbClr val="131A35"/>
                </a:solidFill>
                <a:latin typeface="Arial"/>
              </a:rPr>
              <a:t>Runtime control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632373-8951-C13C-095A-98ED0454D161}"/>
              </a:ext>
            </a:extLst>
          </p:cNvPr>
          <p:cNvSpPr txBox="1"/>
          <p:nvPr/>
        </p:nvSpPr>
        <p:spPr>
          <a:xfrm>
            <a:off x="731520" y="3502570"/>
            <a:ext cx="3429000" cy="64008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910" b="0" dirty="0">
                <a:solidFill>
                  <a:srgbClr val="5F6B7A"/>
                </a:solidFill>
                <a:latin typeface="Arial"/>
              </a:rPr>
              <a:t>Controller accepts POST /</a:t>
            </a:r>
            <a:r>
              <a:rPr sz="910" b="0" dirty="0" err="1">
                <a:solidFill>
                  <a:srgbClr val="5F6B7A"/>
                </a:solidFill>
                <a:latin typeface="Arial"/>
              </a:rPr>
              <a:t>optimisation</a:t>
            </a:r>
            <a:r>
              <a:rPr sz="910" b="0" dirty="0">
                <a:solidFill>
                  <a:srgbClr val="5F6B7A"/>
                </a:solidFill>
                <a:latin typeface="Arial"/>
              </a:rPr>
              <a:t>, persists runtime and writes the outbox.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68487CF-6993-60E9-0420-A3C6D0C95693}"/>
              </a:ext>
            </a:extLst>
          </p:cNvPr>
          <p:cNvSpPr/>
          <p:nvPr/>
        </p:nvSpPr>
        <p:spPr>
          <a:xfrm>
            <a:off x="594360" y="3976587"/>
            <a:ext cx="3703320" cy="658368"/>
          </a:xfrm>
          <a:prstGeom prst="roundRect">
            <a:avLst/>
          </a:prstGeom>
          <a:solidFill>
            <a:srgbClr val="F6F8FC"/>
          </a:solidFill>
          <a:ln w="9525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F370DAB-FF6B-0F49-7F82-3422451BE638}"/>
              </a:ext>
            </a:extLst>
          </p:cNvPr>
          <p:cNvSpPr/>
          <p:nvPr/>
        </p:nvSpPr>
        <p:spPr>
          <a:xfrm>
            <a:off x="704088" y="4033763"/>
            <a:ext cx="310896" cy="310896"/>
          </a:xfrm>
          <a:prstGeom prst="ellipse">
            <a:avLst/>
          </a:prstGeom>
          <a:solidFill>
            <a:srgbClr val="F96449"/>
          </a:solidFill>
          <a:ln>
            <a:solidFill>
              <a:srgbClr val="F96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ECCCEC-D9CA-64C9-7871-43484F9B3AC6}"/>
              </a:ext>
            </a:extLst>
          </p:cNvPr>
          <p:cNvSpPr txBox="1"/>
          <p:nvPr/>
        </p:nvSpPr>
        <p:spPr>
          <a:xfrm>
            <a:off x="1097280" y="4060250"/>
            <a:ext cx="3108960" cy="27432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1220" b="1" dirty="0">
                <a:solidFill>
                  <a:srgbClr val="131A35"/>
                </a:solidFill>
                <a:latin typeface="Arial"/>
              </a:rPr>
              <a:t>Worker binding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193D00-0745-EEC4-319E-11BA4B49453B}"/>
              </a:ext>
            </a:extLst>
          </p:cNvPr>
          <p:cNvSpPr txBox="1"/>
          <p:nvPr/>
        </p:nvSpPr>
        <p:spPr>
          <a:xfrm>
            <a:off x="731520" y="4332362"/>
            <a:ext cx="3429000" cy="64008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910" b="0" dirty="0">
                <a:solidFill>
                  <a:srgbClr val="5F6B7A"/>
                </a:solidFill>
                <a:latin typeface="Arial"/>
              </a:rPr>
              <a:t>Worker consumes EXECUTE, calls first </a:t>
            </a:r>
            <a:r>
              <a:rPr sz="910" b="0" dirty="0" err="1">
                <a:solidFill>
                  <a:srgbClr val="5F6B7A"/>
                </a:solidFill>
                <a:latin typeface="Arial"/>
              </a:rPr>
              <a:t>Gurobi</a:t>
            </a:r>
            <a:r>
              <a:rPr sz="910" b="0" dirty="0">
                <a:solidFill>
                  <a:srgbClr val="5F6B7A"/>
                </a:solidFill>
                <a:latin typeface="Arial"/>
              </a:rPr>
              <a:t>-backed model and emits outcome facts.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1097049-393F-8CD6-8A5D-CDD368BCE6CA}"/>
              </a:ext>
            </a:extLst>
          </p:cNvPr>
          <p:cNvSpPr/>
          <p:nvPr/>
        </p:nvSpPr>
        <p:spPr>
          <a:xfrm>
            <a:off x="594360" y="4774848"/>
            <a:ext cx="3703320" cy="658368"/>
          </a:xfrm>
          <a:prstGeom prst="roundRect">
            <a:avLst/>
          </a:prstGeom>
          <a:solidFill>
            <a:srgbClr val="F6F8FC"/>
          </a:solidFill>
          <a:ln w="9525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787B83A-4F32-8190-ED35-91380EECB6DA}"/>
              </a:ext>
            </a:extLst>
          </p:cNvPr>
          <p:cNvSpPr/>
          <p:nvPr/>
        </p:nvSpPr>
        <p:spPr>
          <a:xfrm>
            <a:off x="704088" y="4884576"/>
            <a:ext cx="310896" cy="310896"/>
          </a:xfrm>
          <a:prstGeom prst="ellipse">
            <a:avLst/>
          </a:prstGeom>
          <a:solidFill>
            <a:srgbClr val="6C3BFF"/>
          </a:solidFill>
          <a:ln>
            <a:solidFill>
              <a:srgbClr val="6C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9EBA18-A1AD-12EA-C1D4-71DA574D9608}"/>
              </a:ext>
            </a:extLst>
          </p:cNvPr>
          <p:cNvSpPr txBox="1"/>
          <p:nvPr/>
        </p:nvSpPr>
        <p:spPr>
          <a:xfrm>
            <a:off x="1097280" y="4848000"/>
            <a:ext cx="3108960" cy="27432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1220" b="1">
                <a:solidFill>
                  <a:srgbClr val="131A35"/>
                </a:solidFill>
                <a:latin typeface="Arial"/>
              </a:rPr>
              <a:t>Operate and observe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40FF1-593A-A4E1-6A69-7B1B0FEFA35F}"/>
              </a:ext>
            </a:extLst>
          </p:cNvPr>
          <p:cNvSpPr txBox="1"/>
          <p:nvPr/>
        </p:nvSpPr>
        <p:spPr>
          <a:xfrm>
            <a:off x="742030" y="5141138"/>
            <a:ext cx="3429000" cy="64008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910" b="0">
                <a:solidFill>
                  <a:srgbClr val="5F6B7A"/>
                </a:solidFill>
                <a:latin typeface="Arial"/>
              </a:rPr>
              <a:t>Dashboards, DLQ, trace IDs, runbooks, webhook/polling and support path are validated.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07834E47-C39C-5B39-D986-5FAB8EF2CD4F}"/>
              </a:ext>
            </a:extLst>
          </p:cNvPr>
          <p:cNvSpPr/>
          <p:nvPr/>
        </p:nvSpPr>
        <p:spPr>
          <a:xfrm>
            <a:off x="4908856" y="2064760"/>
            <a:ext cx="3794760" cy="2971800"/>
          </a:xfrm>
          <a:prstGeom prst="roundRect">
            <a:avLst/>
          </a:prstGeom>
          <a:solidFill>
            <a:srgbClr val="0A203F"/>
          </a:solidFill>
          <a:ln>
            <a:solidFill>
              <a:srgbClr val="0A2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D1DC08-83BF-8D5D-8A10-F69E301125F9}"/>
              </a:ext>
            </a:extLst>
          </p:cNvPr>
          <p:cNvSpPr txBox="1"/>
          <p:nvPr/>
        </p:nvSpPr>
        <p:spPr>
          <a:xfrm>
            <a:off x="4956048" y="2190985"/>
            <a:ext cx="3246120" cy="310896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MVP acceptance gates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F141A2-3451-D454-4EF1-6E87EF3AE102}"/>
              </a:ext>
            </a:extLst>
          </p:cNvPr>
          <p:cNvSpPr txBox="1"/>
          <p:nvPr/>
        </p:nvSpPr>
        <p:spPr>
          <a:xfrm>
            <a:off x="5010912" y="2648185"/>
            <a:ext cx="3246120" cy="22860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950" b="0">
                <a:solidFill>
                  <a:srgbClr val="E9EDF5"/>
                </a:solidFill>
                <a:latin typeface="Arial"/>
              </a:rPr>
              <a:t>• 201 Created only after validation + persistence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8745ABF-A6AC-108C-E0B2-276E6CB87881}"/>
              </a:ext>
            </a:extLst>
          </p:cNvPr>
          <p:cNvSpPr txBox="1"/>
          <p:nvPr/>
        </p:nvSpPr>
        <p:spPr>
          <a:xfrm>
            <a:off x="5010912" y="3032233"/>
            <a:ext cx="3246120" cy="22860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950" b="0">
                <a:solidFill>
                  <a:srgbClr val="E9EDF5"/>
                </a:solidFill>
                <a:latin typeface="Arial"/>
              </a:rPr>
              <a:t>• ACKNOWLEDGED → QUEUED → PROCESSING → terminal outcome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60DC6C1-9A72-5A9A-D670-670953B97734}"/>
              </a:ext>
            </a:extLst>
          </p:cNvPr>
          <p:cNvSpPr txBox="1"/>
          <p:nvPr/>
        </p:nvSpPr>
        <p:spPr>
          <a:xfrm>
            <a:off x="5010912" y="3416281"/>
            <a:ext cx="3246120" cy="22860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950" b="0">
                <a:solidFill>
                  <a:srgbClr val="E9EDF5"/>
                </a:solidFill>
                <a:latin typeface="Arial"/>
              </a:rPr>
              <a:t>• GET /optimisation/{id} remains authoritative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E81533D-3081-E932-D7A7-56BB8C46E823}"/>
              </a:ext>
            </a:extLst>
          </p:cNvPr>
          <p:cNvSpPr txBox="1"/>
          <p:nvPr/>
        </p:nvSpPr>
        <p:spPr>
          <a:xfrm>
            <a:off x="5010912" y="3800329"/>
            <a:ext cx="3246120" cy="22860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950" b="0">
                <a:solidFill>
                  <a:srgbClr val="E9EDF5"/>
                </a:solidFill>
                <a:latin typeface="Arial"/>
              </a:rPr>
              <a:t>• ETag and If-Match protect unsafe actions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F0FC4B-7A10-3BB7-D729-458FE43760A6}"/>
              </a:ext>
            </a:extLst>
          </p:cNvPr>
          <p:cNvSpPr txBox="1"/>
          <p:nvPr/>
        </p:nvSpPr>
        <p:spPr>
          <a:xfrm>
            <a:off x="5010912" y="4184377"/>
            <a:ext cx="3246120" cy="22860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950" b="0">
                <a:solidFill>
                  <a:srgbClr val="E9EDF5"/>
                </a:solidFill>
                <a:latin typeface="Arial"/>
              </a:rPr>
              <a:t>• No cache or fallback can fake source-of-truth state</a:t>
            </a:r>
          </a:p>
        </p:txBody>
      </p:sp>
    </p:spTree>
    <p:extLst>
      <p:ext uri="{BB962C8B-B14F-4D97-AF65-F5344CB8AC3E}">
        <p14:creationId xmlns:p14="http://schemas.microsoft.com/office/powerpoint/2010/main" val="3628002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B106C6-DA7A-9E7D-622C-7DC9F1EDC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95AD2A-E0BE-2DB3-95B0-A97C5FA3F3C9}"/>
              </a:ext>
            </a:extLst>
          </p:cNvPr>
          <p:cNvSpPr/>
          <p:nvPr/>
        </p:nvSpPr>
        <p:spPr>
          <a:xfrm>
            <a:off x="0" y="6729984"/>
            <a:ext cx="2032000" cy="128016"/>
          </a:xfrm>
          <a:prstGeom prst="rect">
            <a:avLst/>
          </a:prstGeom>
          <a:solidFill>
            <a:srgbClr val="00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0CEBB9-8008-8763-DCE7-BCB3F93DB0E5}"/>
              </a:ext>
            </a:extLst>
          </p:cNvPr>
          <p:cNvSpPr/>
          <p:nvPr/>
        </p:nvSpPr>
        <p:spPr>
          <a:xfrm>
            <a:off x="2032000" y="6729984"/>
            <a:ext cx="2032000" cy="128016"/>
          </a:xfrm>
          <a:prstGeom prst="rect">
            <a:avLst/>
          </a:prstGeom>
          <a:solidFill>
            <a:srgbClr val="FF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1343F8-0272-B67F-E2D9-629F545CE3D9}"/>
              </a:ext>
            </a:extLst>
          </p:cNvPr>
          <p:cNvSpPr/>
          <p:nvPr/>
        </p:nvSpPr>
        <p:spPr>
          <a:xfrm>
            <a:off x="4064000" y="6729984"/>
            <a:ext cx="2032000" cy="128016"/>
          </a:xfrm>
          <a:prstGeom prst="rect">
            <a:avLst/>
          </a:prstGeom>
          <a:solidFill>
            <a:srgbClr val="1AC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4363FA-6215-61FD-A29A-58A2B647FA1E}"/>
              </a:ext>
            </a:extLst>
          </p:cNvPr>
          <p:cNvSpPr/>
          <p:nvPr/>
        </p:nvSpPr>
        <p:spPr>
          <a:xfrm>
            <a:off x="6096000" y="6729984"/>
            <a:ext cx="2032000" cy="128016"/>
          </a:xfrm>
          <a:prstGeom prst="rect">
            <a:avLst/>
          </a:prstGeom>
          <a:solidFill>
            <a:srgbClr val="703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090E3A-C02C-6D84-9F59-2F6AC5C2DBC7}"/>
              </a:ext>
            </a:extLst>
          </p:cNvPr>
          <p:cNvSpPr/>
          <p:nvPr/>
        </p:nvSpPr>
        <p:spPr>
          <a:xfrm>
            <a:off x="8128000" y="6729984"/>
            <a:ext cx="2032000" cy="128016"/>
          </a:xfrm>
          <a:prstGeom prst="rect">
            <a:avLst/>
          </a:prstGeom>
          <a:solidFill>
            <a:srgbClr val="1DB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A226DE-B0C2-AE9A-7DF4-0C0DEE314436}"/>
              </a:ext>
            </a:extLst>
          </p:cNvPr>
          <p:cNvSpPr/>
          <p:nvPr/>
        </p:nvSpPr>
        <p:spPr>
          <a:xfrm>
            <a:off x="10160000" y="6729984"/>
            <a:ext cx="2032000" cy="128016"/>
          </a:xfrm>
          <a:prstGeom prst="rect">
            <a:avLst/>
          </a:prstGeom>
          <a:solidFill>
            <a:srgbClr val="E62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04E8A5-59BB-9075-0C75-1469E6135F7C}"/>
              </a:ext>
            </a:extLst>
          </p:cNvPr>
          <p:cNvSpPr txBox="1"/>
          <p:nvPr/>
        </p:nvSpPr>
        <p:spPr>
          <a:xfrm>
            <a:off x="411480" y="6547104"/>
            <a:ext cx="4114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6E80"/>
                </a:solidFill>
              </a:defRPr>
            </a:pPr>
            <a:r>
              <a:t>Optimisation platform · software architecture baseline</a:t>
            </a:r>
          </a:p>
        </p:txBody>
      </p:sp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D9844929-019F-A621-B481-3F6C2327A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83464"/>
            <a:ext cx="713232" cy="4754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9AA431-17B1-BB8F-2DF6-5CC1255F839B}"/>
              </a:ext>
            </a:extLst>
          </p:cNvPr>
          <p:cNvSpPr txBox="1"/>
          <p:nvPr/>
        </p:nvSpPr>
        <p:spPr>
          <a:xfrm>
            <a:off x="502920" y="228600"/>
            <a:ext cx="3657600" cy="25603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1100" b="1">
                <a:solidFill>
                  <a:srgbClr val="0D54FF"/>
                </a:solidFill>
                <a:latin typeface="Arial"/>
              </a:rPr>
              <a:t>OPERATING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7E0417-7D18-3207-2C73-6FC1230908F8}"/>
              </a:ext>
            </a:extLst>
          </p:cNvPr>
          <p:cNvSpPr txBox="1"/>
          <p:nvPr/>
        </p:nvSpPr>
        <p:spPr>
          <a:xfrm>
            <a:off x="502920" y="502920"/>
            <a:ext cx="7040880" cy="420624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2500" b="1">
                <a:solidFill>
                  <a:srgbClr val="131A35"/>
                </a:solidFill>
                <a:latin typeface="Arial"/>
              </a:rPr>
              <a:t>Run the platform as a capability factory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8AF69B-5C6D-8FFD-4105-47896E062442}"/>
              </a:ext>
            </a:extLst>
          </p:cNvPr>
          <p:cNvSpPr txBox="1"/>
          <p:nvPr/>
        </p:nvSpPr>
        <p:spPr>
          <a:xfrm>
            <a:off x="523940" y="1057442"/>
            <a:ext cx="7452360" cy="292608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1150" b="0" dirty="0">
                <a:solidFill>
                  <a:srgbClr val="5F6B7A"/>
                </a:solidFill>
                <a:latin typeface="Arial"/>
              </a:rPr>
              <a:t>Clear ownership keeps build, run, governance and onboarding repeatable.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475FC7E-B1FC-50F2-9CFE-1405061361F0}"/>
              </a:ext>
            </a:extLst>
          </p:cNvPr>
          <p:cNvSpPr/>
          <p:nvPr/>
        </p:nvSpPr>
        <p:spPr>
          <a:xfrm>
            <a:off x="562829" y="1833531"/>
            <a:ext cx="3657600" cy="960120"/>
          </a:xfrm>
          <a:prstGeom prst="roundRect">
            <a:avLst/>
          </a:prstGeom>
          <a:solidFill>
            <a:srgbClr val="F6F8FC"/>
          </a:solidFill>
          <a:ln w="9525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AAC3EDE-4489-97BF-95E8-BED15F3AAA3D}"/>
              </a:ext>
            </a:extLst>
          </p:cNvPr>
          <p:cNvSpPr/>
          <p:nvPr/>
        </p:nvSpPr>
        <p:spPr>
          <a:xfrm>
            <a:off x="672557" y="1957391"/>
            <a:ext cx="310896" cy="282633"/>
          </a:xfrm>
          <a:prstGeom prst="ellipse">
            <a:avLst/>
          </a:prstGeom>
          <a:solidFill>
            <a:srgbClr val="0D54FF"/>
          </a:solidFill>
          <a:ln>
            <a:solidFill>
              <a:srgbClr val="0D5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FC14C0-DE58-AFCA-1C8A-9DB4BB81E25C}"/>
              </a:ext>
            </a:extLst>
          </p:cNvPr>
          <p:cNvSpPr txBox="1"/>
          <p:nvPr/>
        </p:nvSpPr>
        <p:spPr>
          <a:xfrm>
            <a:off x="1065749" y="1919152"/>
            <a:ext cx="3063240" cy="24938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1220" b="1">
                <a:solidFill>
                  <a:srgbClr val="131A35"/>
                </a:solidFill>
                <a:latin typeface="Arial"/>
              </a:rPr>
              <a:t>Build ownership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04B824-7CCD-79CF-0AEA-86FFA6CCA330}"/>
              </a:ext>
            </a:extLst>
          </p:cNvPr>
          <p:cNvSpPr txBox="1"/>
          <p:nvPr/>
        </p:nvSpPr>
        <p:spPr>
          <a:xfrm>
            <a:off x="699989" y="2353077"/>
            <a:ext cx="3383280" cy="332509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910" b="0">
                <a:solidFill>
                  <a:srgbClr val="5F6B7A"/>
                </a:solidFill>
                <a:latin typeface="Arial"/>
              </a:rPr>
              <a:t>Platform team owns services, OAS contracts, IaC, CI/CD and release governance.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B45393D-C5DE-58D0-F1CE-24779DE99196}"/>
              </a:ext>
            </a:extLst>
          </p:cNvPr>
          <p:cNvSpPr/>
          <p:nvPr/>
        </p:nvSpPr>
        <p:spPr>
          <a:xfrm>
            <a:off x="4540469" y="1833531"/>
            <a:ext cx="3657600" cy="960120"/>
          </a:xfrm>
          <a:prstGeom prst="roundRect">
            <a:avLst/>
          </a:prstGeom>
          <a:solidFill>
            <a:srgbClr val="F6F8FC"/>
          </a:solidFill>
          <a:ln w="9525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F72FE12-A17E-3F28-9075-5EAD87D5973C}"/>
              </a:ext>
            </a:extLst>
          </p:cNvPr>
          <p:cNvSpPr/>
          <p:nvPr/>
        </p:nvSpPr>
        <p:spPr>
          <a:xfrm>
            <a:off x="4650197" y="1957391"/>
            <a:ext cx="310896" cy="282633"/>
          </a:xfrm>
          <a:prstGeom prst="ellipse">
            <a:avLst/>
          </a:prstGeom>
          <a:solidFill>
            <a:srgbClr val="19B66A"/>
          </a:solidFill>
          <a:ln>
            <a:solidFill>
              <a:srgbClr val="19B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92333B-62F9-17D7-7A96-3B0C8CDAE19C}"/>
              </a:ext>
            </a:extLst>
          </p:cNvPr>
          <p:cNvSpPr txBox="1"/>
          <p:nvPr/>
        </p:nvSpPr>
        <p:spPr>
          <a:xfrm>
            <a:off x="5043389" y="1919152"/>
            <a:ext cx="3063240" cy="24938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1220" b="1">
                <a:solidFill>
                  <a:srgbClr val="131A35"/>
                </a:solidFill>
                <a:latin typeface="Arial"/>
              </a:rPr>
              <a:t>Run ownership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D93E8E-9E28-6421-CF0F-4653D2C736F7}"/>
              </a:ext>
            </a:extLst>
          </p:cNvPr>
          <p:cNvSpPr txBox="1"/>
          <p:nvPr/>
        </p:nvSpPr>
        <p:spPr>
          <a:xfrm>
            <a:off x="4677629" y="2353077"/>
            <a:ext cx="3383280" cy="332509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910" b="0">
                <a:solidFill>
                  <a:srgbClr val="5F6B7A"/>
                </a:solidFill>
                <a:latin typeface="Arial"/>
              </a:rPr>
              <a:t>Operations owns health, dashboards, alerts, DLQ, capacity and incident response.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AD3AFBD-1FD8-A88A-E491-A3B754F7727A}"/>
              </a:ext>
            </a:extLst>
          </p:cNvPr>
          <p:cNvSpPr/>
          <p:nvPr/>
        </p:nvSpPr>
        <p:spPr>
          <a:xfrm>
            <a:off x="562829" y="3111613"/>
            <a:ext cx="3657600" cy="872836"/>
          </a:xfrm>
          <a:prstGeom prst="roundRect">
            <a:avLst/>
          </a:prstGeom>
          <a:solidFill>
            <a:srgbClr val="F6F8FC"/>
          </a:solidFill>
          <a:ln w="9525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F1875AF-711C-450D-25A9-8E13F32561FA}"/>
              </a:ext>
            </a:extLst>
          </p:cNvPr>
          <p:cNvSpPr/>
          <p:nvPr/>
        </p:nvSpPr>
        <p:spPr>
          <a:xfrm>
            <a:off x="672557" y="3191831"/>
            <a:ext cx="310896" cy="282633"/>
          </a:xfrm>
          <a:prstGeom prst="ellipse">
            <a:avLst/>
          </a:prstGeom>
          <a:solidFill>
            <a:srgbClr val="F96449"/>
          </a:solidFill>
          <a:ln>
            <a:solidFill>
              <a:srgbClr val="F96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5298DD-DDF0-DADC-FBD0-6FB07B018027}"/>
              </a:ext>
            </a:extLst>
          </p:cNvPr>
          <p:cNvSpPr txBox="1"/>
          <p:nvPr/>
        </p:nvSpPr>
        <p:spPr>
          <a:xfrm>
            <a:off x="1065749" y="3153592"/>
            <a:ext cx="3063240" cy="24938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1220" b="1">
                <a:solidFill>
                  <a:srgbClr val="131A35"/>
                </a:solidFill>
                <a:latin typeface="Arial"/>
              </a:rPr>
              <a:t>Security ownership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F15E66-4A06-D26E-2161-A73551D0A4E6}"/>
              </a:ext>
            </a:extLst>
          </p:cNvPr>
          <p:cNvSpPr txBox="1"/>
          <p:nvPr/>
        </p:nvSpPr>
        <p:spPr>
          <a:xfrm>
            <a:off x="699989" y="3587517"/>
            <a:ext cx="3383280" cy="332509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910" b="0">
                <a:solidFill>
                  <a:srgbClr val="5F6B7A"/>
                </a:solidFill>
                <a:latin typeface="Arial"/>
              </a:rPr>
              <a:t>Vault, mTLS, service identity, callback security, audit and vulnerability management.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0E9AF6C-D11A-172B-9E3A-6F94B6A18053}"/>
              </a:ext>
            </a:extLst>
          </p:cNvPr>
          <p:cNvSpPr/>
          <p:nvPr/>
        </p:nvSpPr>
        <p:spPr>
          <a:xfrm>
            <a:off x="4540469" y="3111613"/>
            <a:ext cx="3657600" cy="872836"/>
          </a:xfrm>
          <a:prstGeom prst="roundRect">
            <a:avLst/>
          </a:prstGeom>
          <a:solidFill>
            <a:srgbClr val="F6F8FC"/>
          </a:solidFill>
          <a:ln w="9525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FB95F20-F8B3-D845-C2E9-9D516CF3B983}"/>
              </a:ext>
            </a:extLst>
          </p:cNvPr>
          <p:cNvSpPr/>
          <p:nvPr/>
        </p:nvSpPr>
        <p:spPr>
          <a:xfrm>
            <a:off x="4650197" y="3191831"/>
            <a:ext cx="310896" cy="282633"/>
          </a:xfrm>
          <a:prstGeom prst="ellipse">
            <a:avLst/>
          </a:prstGeom>
          <a:solidFill>
            <a:srgbClr val="6C3BFF"/>
          </a:solidFill>
          <a:ln>
            <a:solidFill>
              <a:srgbClr val="6C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1A091A-B1CB-19F7-2095-AA90260ADB49}"/>
              </a:ext>
            </a:extLst>
          </p:cNvPr>
          <p:cNvSpPr txBox="1"/>
          <p:nvPr/>
        </p:nvSpPr>
        <p:spPr>
          <a:xfrm>
            <a:off x="5043389" y="3153592"/>
            <a:ext cx="3063240" cy="249382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1220" b="1">
                <a:solidFill>
                  <a:srgbClr val="131A35"/>
                </a:solidFill>
                <a:latin typeface="Arial"/>
              </a:rPr>
              <a:t>Capability onboarding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F8CBC2-1C4E-58CE-B546-8AA987608E1A}"/>
              </a:ext>
            </a:extLst>
          </p:cNvPr>
          <p:cNvSpPr txBox="1"/>
          <p:nvPr/>
        </p:nvSpPr>
        <p:spPr>
          <a:xfrm>
            <a:off x="4677629" y="3587517"/>
            <a:ext cx="3383280" cy="332509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910" b="0">
                <a:solidFill>
                  <a:srgbClr val="5F6B7A"/>
                </a:solidFill>
                <a:latin typeface="Arial"/>
              </a:rPr>
              <a:t>New use cases onboard through Definition contracts and worker bindings.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610DCD7-A73D-B30C-7D16-61FA0F4971DF}"/>
              </a:ext>
            </a:extLst>
          </p:cNvPr>
          <p:cNvSpPr/>
          <p:nvPr/>
        </p:nvSpPr>
        <p:spPr>
          <a:xfrm>
            <a:off x="562829" y="4609150"/>
            <a:ext cx="7909560" cy="648393"/>
          </a:xfrm>
          <a:prstGeom prst="roundRect">
            <a:avLst/>
          </a:prstGeom>
          <a:solidFill>
            <a:srgbClr val="131A35"/>
          </a:solidFill>
          <a:ln>
            <a:solidFill>
              <a:srgbClr val="131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8C4572-F66F-12A7-249F-1A326EF61215}"/>
              </a:ext>
            </a:extLst>
          </p:cNvPr>
          <p:cNvSpPr txBox="1"/>
          <p:nvPr/>
        </p:nvSpPr>
        <p:spPr>
          <a:xfrm>
            <a:off x="791429" y="4706409"/>
            <a:ext cx="1828800" cy="216131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1230" b="1">
                <a:solidFill>
                  <a:srgbClr val="FFFFFF"/>
                </a:solidFill>
                <a:latin typeface="Arial"/>
              </a:rPr>
              <a:t>Scale-out model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E76136-B66E-1634-F169-73BF6A135652}"/>
              </a:ext>
            </a:extLst>
          </p:cNvPr>
          <p:cNvSpPr txBox="1"/>
          <p:nvPr/>
        </p:nvSpPr>
        <p:spPr>
          <a:xfrm>
            <a:off x="2574509" y="4713475"/>
            <a:ext cx="5669280" cy="357447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 algn="l"/>
            <a:r>
              <a:rPr sz="1019" b="0">
                <a:solidFill>
                  <a:srgbClr val="E9EDF5"/>
                </a:solidFill>
                <a:latin typeface="Arial"/>
              </a:rPr>
              <a:t>Definition contracts create a repeatable onboarding path; Controller and Worker patterns stay stable as capabilities are added.</a:t>
            </a:r>
          </a:p>
        </p:txBody>
      </p:sp>
    </p:spTree>
    <p:extLst>
      <p:ext uri="{BB962C8B-B14F-4D97-AF65-F5344CB8AC3E}">
        <p14:creationId xmlns:p14="http://schemas.microsoft.com/office/powerpoint/2010/main" val="3718103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C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PATH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next steps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881360" y="228600"/>
            <a:ext cx="969264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telst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3693" y="283464"/>
            <a:ext cx="431447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2984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Endorse the software architecture baseline, then move into API contract and implementation readiness.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777240" y="2514600"/>
            <a:ext cx="2331720" cy="1965960"/>
          </a:xfrm>
          <a:prstGeom prst="roundRect">
            <a:avLst>
              <a:gd name="adj" fmla="val 7442"/>
            </a:avLst>
          </a:prstGeom>
          <a:solidFill>
            <a:srgbClr val="1C2748"/>
          </a:solidFill>
          <a:ln w="13970">
            <a:solidFill>
              <a:srgbClr val="0D5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563624" y="2624328"/>
            <a:ext cx="749808" cy="749808"/>
          </a:xfrm>
          <a:prstGeom prst="ellipse">
            <a:avLst/>
          </a:prstGeom>
          <a:solidFill>
            <a:srgbClr val="0D54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563624" y="280720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49300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Lock architecture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41832" y="391363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2E8"/>
                </a:solidFill>
              </a:rPr>
              <a:t>Ownership, lifecycle, event model, cache and identity guardrails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566160" y="2514600"/>
            <a:ext cx="2331720" cy="1965960"/>
          </a:xfrm>
          <a:prstGeom prst="roundRect">
            <a:avLst>
              <a:gd name="adj" fmla="val 7442"/>
            </a:avLst>
          </a:prstGeom>
          <a:solidFill>
            <a:srgbClr val="1C2748"/>
          </a:solidFill>
          <a:ln w="13970">
            <a:solidFill>
              <a:srgbClr val="F96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352544" y="2624328"/>
            <a:ext cx="749808" cy="749808"/>
          </a:xfrm>
          <a:prstGeom prst="ellipse">
            <a:avLst/>
          </a:prstGeom>
          <a:solidFill>
            <a:srgbClr val="F9644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352544" y="280720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703320" y="349300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Generate OAS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730752" y="391363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2E8"/>
                </a:solidFill>
              </a:rPr>
              <a:t>Definition, Controller and Screen Builder API contracts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355080" y="2514600"/>
            <a:ext cx="2331720" cy="1965960"/>
          </a:xfrm>
          <a:prstGeom prst="roundRect">
            <a:avLst>
              <a:gd name="adj" fmla="val 7442"/>
            </a:avLst>
          </a:prstGeom>
          <a:solidFill>
            <a:srgbClr val="1C2748"/>
          </a:solidFill>
          <a:ln w="1397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141464" y="2624328"/>
            <a:ext cx="749808" cy="749808"/>
          </a:xfrm>
          <a:prstGeom prst="ellipse">
            <a:avLst/>
          </a:prstGeom>
          <a:solidFill>
            <a:srgbClr val="16C7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141464" y="280720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349300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Pilot build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519672" y="391363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2E8"/>
                </a:solidFill>
              </a:rPr>
              <a:t>Thin happy path with one optimisation capability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144000" y="2514600"/>
            <a:ext cx="2331720" cy="1965960"/>
          </a:xfrm>
          <a:prstGeom prst="roundRect">
            <a:avLst>
              <a:gd name="adj" fmla="val 7442"/>
            </a:avLst>
          </a:prstGeom>
          <a:solidFill>
            <a:srgbClr val="1C2748"/>
          </a:solidFill>
          <a:ln w="13970">
            <a:solidFill>
              <a:srgbClr val="6C3BFF"/>
            </a:solidFill>
            <a:prstDash val="solid"/>
          </a:ln>
        </p:spPr>
        <p:txBody>
          <a:bodyPr/>
          <a:lstStyle/>
          <a:p>
            <a:endParaRPr dirty="0">
              <a:solidFill>
                <a:schemeClr val="bg1"/>
              </a:solidFill>
            </a:endParaRPr>
          </a:p>
        </p:txBody>
      </p:sp>
      <p:sp>
        <p:nvSpPr>
          <p:cNvPr id="23" name="Shape 20"/>
          <p:cNvSpPr/>
          <p:nvPr/>
        </p:nvSpPr>
        <p:spPr>
          <a:xfrm>
            <a:off x="9930384" y="2624328"/>
            <a:ext cx="749808" cy="749808"/>
          </a:xfrm>
          <a:prstGeom prst="ellipse">
            <a:avLst/>
          </a:prstGeom>
          <a:solidFill>
            <a:srgbClr val="6C3B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930384" y="280720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281160" y="349300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Operationalise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308592" y="391363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2E8"/>
                </a:solidFill>
              </a:rPr>
              <a:t>Runbooks, dashboards, DLQ, capacity and security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1371600" y="5212080"/>
            <a:ext cx="946404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600200" y="5358384"/>
            <a:ext cx="9006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/>
              <a:t>Executive ask: endorse the platform architecture so OAS </a:t>
            </a:r>
            <a:r>
              <a:rPr dirty="0" err="1"/>
              <a:t>finalisation</a:t>
            </a:r>
            <a:r>
              <a:rPr dirty="0"/>
              <a:t>, implementation backlog sizing and pilot readiness can proceed.</a:t>
            </a:r>
          </a:p>
        </p:txBody>
      </p:sp>
      <p:sp>
        <p:nvSpPr>
          <p:cNvPr id="29" name="Shape 26"/>
          <p:cNvSpPr/>
          <p:nvPr/>
        </p:nvSpPr>
        <p:spPr>
          <a:xfrm>
            <a:off x="3658" y="6473952"/>
            <a:ext cx="2020976" cy="109728"/>
          </a:xfrm>
          <a:prstGeom prst="rect">
            <a:avLst/>
          </a:prstGeom>
          <a:solidFill>
            <a:srgbClr val="0D54FF"/>
          </a:solidFill>
          <a:ln w="12700">
            <a:solidFill>
              <a:srgbClr val="0D5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2035607" y="6473952"/>
            <a:ext cx="2020976" cy="109728"/>
          </a:xfrm>
          <a:prstGeom prst="rect">
            <a:avLst/>
          </a:prstGeom>
          <a:solidFill>
            <a:srgbClr val="F96449"/>
          </a:solidFill>
          <a:ln w="12700">
            <a:solidFill>
              <a:srgbClr val="F964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067556" y="6473952"/>
            <a:ext cx="2020976" cy="109728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099505" y="6473952"/>
            <a:ext cx="2020976" cy="109728"/>
          </a:xfrm>
          <a:prstGeom prst="rect">
            <a:avLst/>
          </a:prstGeom>
          <a:solidFill>
            <a:srgbClr val="6C3BFF"/>
          </a:solidFill>
          <a:ln w="12700">
            <a:solidFill>
              <a:srgbClr val="6C3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8131454" y="6473952"/>
            <a:ext cx="2020976" cy="109728"/>
          </a:xfrm>
          <a:prstGeom prst="rect">
            <a:avLst/>
          </a:prstGeom>
          <a:solidFill>
            <a:srgbClr val="19B66A"/>
          </a:solidFill>
          <a:ln w="12700">
            <a:solidFill>
              <a:srgbClr val="19B6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10163404" y="6473952"/>
            <a:ext cx="2020976" cy="109728"/>
          </a:xfrm>
          <a:prstGeom prst="rect">
            <a:avLst/>
          </a:prstGeom>
          <a:solidFill>
            <a:srgbClr val="E72C83"/>
          </a:solidFill>
          <a:ln w="12700">
            <a:solidFill>
              <a:srgbClr val="E72C8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11480" y="660196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9ED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Optimisation platform · software architecture baseline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05F314-2225-C189-E9B0-62B5F8964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1DBAAD-4DEB-771D-BD69-0B03FD45D885}"/>
              </a:ext>
            </a:extLst>
          </p:cNvPr>
          <p:cNvSpPr/>
          <p:nvPr/>
        </p:nvSpPr>
        <p:spPr>
          <a:xfrm>
            <a:off x="0" y="6729984"/>
            <a:ext cx="2032000" cy="128016"/>
          </a:xfrm>
          <a:prstGeom prst="rect">
            <a:avLst/>
          </a:prstGeom>
          <a:solidFill>
            <a:srgbClr val="00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DDD207-CEA4-4FB7-F37A-C188AC68E3EF}"/>
              </a:ext>
            </a:extLst>
          </p:cNvPr>
          <p:cNvSpPr/>
          <p:nvPr/>
        </p:nvSpPr>
        <p:spPr>
          <a:xfrm>
            <a:off x="2032000" y="6729984"/>
            <a:ext cx="2032000" cy="128016"/>
          </a:xfrm>
          <a:prstGeom prst="rect">
            <a:avLst/>
          </a:prstGeom>
          <a:solidFill>
            <a:srgbClr val="FF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8E6E46-41CE-AFBC-34D9-9DB9EE2AE02A}"/>
              </a:ext>
            </a:extLst>
          </p:cNvPr>
          <p:cNvSpPr/>
          <p:nvPr/>
        </p:nvSpPr>
        <p:spPr>
          <a:xfrm>
            <a:off x="4064000" y="6729984"/>
            <a:ext cx="2032000" cy="128016"/>
          </a:xfrm>
          <a:prstGeom prst="rect">
            <a:avLst/>
          </a:prstGeom>
          <a:solidFill>
            <a:srgbClr val="1AC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963525-CDB5-B9E3-9D2F-FCB9C42BDBF1}"/>
              </a:ext>
            </a:extLst>
          </p:cNvPr>
          <p:cNvSpPr/>
          <p:nvPr/>
        </p:nvSpPr>
        <p:spPr>
          <a:xfrm>
            <a:off x="6096000" y="6729984"/>
            <a:ext cx="2032000" cy="128016"/>
          </a:xfrm>
          <a:prstGeom prst="rect">
            <a:avLst/>
          </a:prstGeom>
          <a:solidFill>
            <a:srgbClr val="703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15EED8-E91E-37CE-7911-5444EF2FB6BF}"/>
              </a:ext>
            </a:extLst>
          </p:cNvPr>
          <p:cNvSpPr/>
          <p:nvPr/>
        </p:nvSpPr>
        <p:spPr>
          <a:xfrm>
            <a:off x="8128000" y="6729984"/>
            <a:ext cx="2032000" cy="128016"/>
          </a:xfrm>
          <a:prstGeom prst="rect">
            <a:avLst/>
          </a:prstGeom>
          <a:solidFill>
            <a:srgbClr val="1DB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21D059-28C7-426A-3747-EC3B93AD1BEE}"/>
              </a:ext>
            </a:extLst>
          </p:cNvPr>
          <p:cNvSpPr/>
          <p:nvPr/>
        </p:nvSpPr>
        <p:spPr>
          <a:xfrm>
            <a:off x="10160000" y="6729984"/>
            <a:ext cx="2032000" cy="128016"/>
          </a:xfrm>
          <a:prstGeom prst="rect">
            <a:avLst/>
          </a:prstGeom>
          <a:solidFill>
            <a:srgbClr val="E62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F84E94-92C2-F1A5-6FFA-7F6D737963FE}"/>
              </a:ext>
            </a:extLst>
          </p:cNvPr>
          <p:cNvSpPr txBox="1"/>
          <p:nvPr/>
        </p:nvSpPr>
        <p:spPr>
          <a:xfrm>
            <a:off x="411480" y="6547104"/>
            <a:ext cx="4114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06E80"/>
                </a:solidFill>
              </a:defRPr>
            </a:pPr>
            <a:r>
              <a:t>Optimisation platform · software architecture baseline</a:t>
            </a:r>
          </a:p>
        </p:txBody>
      </p:sp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AF9E5B09-AC4C-EC85-0B7F-A87982206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83464"/>
            <a:ext cx="713232" cy="47548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97F14C79-AC13-E48E-7963-E4AE8AD505A7}"/>
              </a:ext>
            </a:extLst>
          </p:cNvPr>
          <p:cNvSpPr txBox="1"/>
          <p:nvPr/>
        </p:nvSpPr>
        <p:spPr>
          <a:xfrm>
            <a:off x="438912" y="109728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Appendix — E2E logical view (full diagram)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D0EB8A7-682A-25CF-B306-7A5C1038C86B}"/>
              </a:ext>
            </a:extLst>
          </p:cNvPr>
          <p:cNvSpPr txBox="1"/>
          <p:nvPr/>
        </p:nvSpPr>
        <p:spPr>
          <a:xfrm>
            <a:off x="8229600" y="950976"/>
            <a:ext cx="3337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A203F"/>
                </a:solidFill>
              </a:rPr>
              <a:t>How to read this view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86A1082-4EF5-E87C-9E35-6628CED36100}"/>
              </a:ext>
            </a:extLst>
          </p:cNvPr>
          <p:cNvSpPr/>
          <p:nvPr/>
        </p:nvSpPr>
        <p:spPr>
          <a:xfrm>
            <a:off x="8247888" y="1655064"/>
            <a:ext cx="100584" cy="100584"/>
          </a:xfrm>
          <a:prstGeom prst="ellipse">
            <a:avLst/>
          </a:prstGeom>
          <a:solidFill>
            <a:srgbClr val="0063BE"/>
          </a:solidFill>
          <a:ln>
            <a:solidFill>
              <a:srgbClr val="00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03DFFD2-2898-2C37-7B4C-8AB79D84899F}"/>
              </a:ext>
            </a:extLst>
          </p:cNvPr>
          <p:cNvSpPr txBox="1"/>
          <p:nvPr/>
        </p:nvSpPr>
        <p:spPr>
          <a:xfrm>
            <a:off x="8439912" y="1618488"/>
            <a:ext cx="3136392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A203F"/>
                </a:solidFill>
              </a:rPr>
              <a:t>1. Experience path
</a:t>
            </a:r>
            <a:r>
              <a:rPr sz="930">
                <a:solidFill>
                  <a:srgbClr val="586370"/>
                </a:solidFill>
              </a:rPr>
              <a:t>User → OEX → OGW → Optimisation Screen Builder MS. User context shapes views and actions.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FA0CE16-E6B5-F3E6-1012-96CB0961BE45}"/>
              </a:ext>
            </a:extLst>
          </p:cNvPr>
          <p:cNvSpPr/>
          <p:nvPr/>
        </p:nvSpPr>
        <p:spPr>
          <a:xfrm>
            <a:off x="8247888" y="2587752"/>
            <a:ext cx="100584" cy="100584"/>
          </a:xfrm>
          <a:prstGeom prst="ellipse">
            <a:avLst/>
          </a:prstGeom>
          <a:solidFill>
            <a:srgbClr val="0063BE"/>
          </a:solidFill>
          <a:ln>
            <a:solidFill>
              <a:srgbClr val="00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45BAAE-C124-929D-F48B-73319716C039}"/>
              </a:ext>
            </a:extLst>
          </p:cNvPr>
          <p:cNvSpPr txBox="1"/>
          <p:nvPr/>
        </p:nvSpPr>
        <p:spPr>
          <a:xfrm>
            <a:off x="8439912" y="2551176"/>
            <a:ext cx="3136392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A203F"/>
                </a:solidFill>
              </a:rPr>
              <a:t>2. Backend control path
</a:t>
            </a:r>
            <a:r>
              <a:rPr sz="930">
                <a:solidFill>
                  <a:srgbClr val="586370"/>
                </a:solidFill>
              </a:rPr>
              <a:t>NGW exposes governed Optimisation Definition and Optimisation Controller APIs.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D6226AC-A0CD-4986-9EFB-33821D8E6DC1}"/>
              </a:ext>
            </a:extLst>
          </p:cNvPr>
          <p:cNvSpPr/>
          <p:nvPr/>
        </p:nvSpPr>
        <p:spPr>
          <a:xfrm>
            <a:off x="8247888" y="3520440"/>
            <a:ext cx="100584" cy="100584"/>
          </a:xfrm>
          <a:prstGeom prst="ellipse">
            <a:avLst/>
          </a:prstGeom>
          <a:solidFill>
            <a:srgbClr val="0063BE"/>
          </a:solidFill>
          <a:ln>
            <a:solidFill>
              <a:srgbClr val="00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C0A4BF0-B95A-12EE-3A0F-0168D97A3B14}"/>
              </a:ext>
            </a:extLst>
          </p:cNvPr>
          <p:cNvSpPr txBox="1"/>
          <p:nvPr/>
        </p:nvSpPr>
        <p:spPr>
          <a:xfrm>
            <a:off x="8439912" y="3483864"/>
            <a:ext cx="3136392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A203F"/>
                </a:solidFill>
              </a:rPr>
              <a:t>3. Runtime execution path
</a:t>
            </a:r>
            <a:r>
              <a:rPr sz="930">
                <a:solidFill>
                  <a:srgbClr val="586370"/>
                </a:solidFill>
              </a:rPr>
              <a:t>Controller persists requests, publishes Kafka instructions, and Worker executes through Gurobi.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BF17609-39CA-F3D9-3397-BC72D7D501C8}"/>
              </a:ext>
            </a:extLst>
          </p:cNvPr>
          <p:cNvSpPr/>
          <p:nvPr/>
        </p:nvSpPr>
        <p:spPr>
          <a:xfrm>
            <a:off x="8247888" y="4453128"/>
            <a:ext cx="100584" cy="100584"/>
          </a:xfrm>
          <a:prstGeom prst="ellipse">
            <a:avLst/>
          </a:prstGeom>
          <a:solidFill>
            <a:srgbClr val="0063BE"/>
          </a:solidFill>
          <a:ln>
            <a:solidFill>
              <a:srgbClr val="00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1AABC4-DBDD-CB30-672D-77610A16F744}"/>
              </a:ext>
            </a:extLst>
          </p:cNvPr>
          <p:cNvSpPr txBox="1"/>
          <p:nvPr/>
        </p:nvSpPr>
        <p:spPr>
          <a:xfrm>
            <a:off x="8439912" y="4416552"/>
            <a:ext cx="3136392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A203F"/>
                </a:solidFill>
              </a:rPr>
              <a:t>4. Result and notification path
</a:t>
            </a:r>
            <a:r>
              <a:rPr sz="930">
                <a:solidFill>
                  <a:srgbClr val="586370"/>
                </a:solidFill>
              </a:rPr>
              <a:t>Controller projects lifecycle and result state and can notify subscribers via /optimisation/hub.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2DB4E2F-5EC2-52E9-2412-CE28D4797CE6}"/>
              </a:ext>
            </a:extLst>
          </p:cNvPr>
          <p:cNvSpPr/>
          <p:nvPr/>
        </p:nvSpPr>
        <p:spPr>
          <a:xfrm>
            <a:off x="8247888" y="5385816"/>
            <a:ext cx="100584" cy="100584"/>
          </a:xfrm>
          <a:prstGeom prst="ellipse">
            <a:avLst/>
          </a:prstGeom>
          <a:solidFill>
            <a:srgbClr val="0063BE"/>
          </a:solidFill>
          <a:ln>
            <a:solidFill>
              <a:srgbClr val="006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8ED6E73-D9E1-F699-4173-5D9332829F2A}"/>
              </a:ext>
            </a:extLst>
          </p:cNvPr>
          <p:cNvSpPr txBox="1"/>
          <p:nvPr/>
        </p:nvSpPr>
        <p:spPr>
          <a:xfrm>
            <a:off x="8439912" y="5349240"/>
            <a:ext cx="3136392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A203F"/>
                </a:solidFill>
              </a:rPr>
              <a:t>5. Source of truth rule
</a:t>
            </a:r>
            <a:r>
              <a:rPr sz="930">
                <a:solidFill>
                  <a:srgbClr val="586370"/>
                </a:solidFill>
              </a:rPr>
              <a:t>GET /optimisation/{id} remains authoritative; webhooks and screens are notifications and views.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5F284721-99F9-6992-CD91-89B95BB24BC1}"/>
              </a:ext>
            </a:extLst>
          </p:cNvPr>
          <p:cNvSpPr/>
          <p:nvPr/>
        </p:nvSpPr>
        <p:spPr>
          <a:xfrm>
            <a:off x="8229600" y="5870448"/>
            <a:ext cx="3337560" cy="365760"/>
          </a:xfrm>
          <a:prstGeom prst="roundRect">
            <a:avLst/>
          </a:prstGeom>
          <a:solidFill>
            <a:srgbClr val="EBF5FF"/>
          </a:solidFill>
          <a:ln w="6350">
            <a:solidFill>
              <a:srgbClr val="BE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9C9877-1C40-4AD8-0B80-4A549C7E7FFE}"/>
              </a:ext>
            </a:extLst>
          </p:cNvPr>
          <p:cNvSpPr txBox="1"/>
          <p:nvPr/>
        </p:nvSpPr>
        <p:spPr>
          <a:xfrm>
            <a:off x="8348472" y="5934456"/>
            <a:ext cx="30998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0A203F"/>
                </a:solidFill>
              </a:rPr>
              <a:t>Backup slide — full logical view retained for technical discussion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E7F1B802-C65C-F249-2900-2193009BAE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5826" y="694944"/>
            <a:ext cx="6857827" cy="576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377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1950</Words>
  <Application>Microsoft Macintosh PowerPoint</Application>
  <PresentationFormat>Widescreen</PresentationFormat>
  <Paragraphs>322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Telstra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Optimisation Platform Software Architecture Baseline — Executive Pack</dc:title>
  <dc:subject>Optimisation Platform Software Architecture Executive Pack</dc:subject>
  <dc:creator>OpenAI</dc:creator>
  <cp:lastModifiedBy>Warnak, Prageeth</cp:lastModifiedBy>
  <cp:revision>22</cp:revision>
  <dcterms:created xsi:type="dcterms:W3CDTF">2026-05-26T16:33:16Z</dcterms:created>
  <dcterms:modified xsi:type="dcterms:W3CDTF">2026-05-27T09:44:57Z</dcterms:modified>
</cp:coreProperties>
</file>